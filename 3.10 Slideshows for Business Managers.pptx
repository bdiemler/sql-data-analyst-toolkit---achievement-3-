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1" r:id="rId2"/>
    <p:sldId id="2562" r:id="rId3"/>
    <p:sldId id="2584" r:id="rId4"/>
    <p:sldId id="2563" r:id="rId5"/>
    <p:sldId id="2564" r:id="rId6"/>
    <p:sldId id="2571" r:id="rId7"/>
    <p:sldId id="2587" r:id="rId8"/>
    <p:sldId id="2575" r:id="rId9"/>
    <p:sldId id="2585" r:id="rId10"/>
    <p:sldId id="2572" r:id="rId11"/>
    <p:sldId id="2576" r:id="rId12"/>
    <p:sldId id="2583" r:id="rId13"/>
    <p:sldId id="25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6247" autoAdjust="0"/>
  </p:normalViewPr>
  <p:slideViewPr>
    <p:cSldViewPr snapToGrid="0">
      <p:cViewPr varScale="1">
        <p:scale>
          <a:sx n="102" d="100"/>
          <a:sy n="102" d="100"/>
        </p:scale>
        <p:origin x="954" y="31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EEACC6-103D-48F6-9D42-482E3E83C0A1}"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F77E0617-66A2-4859-BDD6-C162FC9A0597}">
      <dgm:prSet/>
      <dgm:spPr/>
      <dgm:t>
        <a:bodyPr/>
        <a:lstStyle/>
        <a:p>
          <a:pPr>
            <a:lnSpc>
              <a:spcPct val="100000"/>
            </a:lnSpc>
            <a:defRPr b="1"/>
          </a:pPr>
          <a:r>
            <a:rPr lang="en-US" b="1" dirty="0"/>
            <a:t>Total Active Customers:</a:t>
          </a:r>
          <a:r>
            <a:rPr lang="en-US" dirty="0"/>
            <a:t> 599.</a:t>
          </a:r>
        </a:p>
      </dgm:t>
    </dgm:pt>
    <dgm:pt modelId="{F0F3D86C-635E-41CC-B63D-AC279174737E}" type="parTrans" cxnId="{8EC643BE-4904-4D1B-A33B-997D6A983458}">
      <dgm:prSet/>
      <dgm:spPr/>
      <dgm:t>
        <a:bodyPr/>
        <a:lstStyle/>
        <a:p>
          <a:endParaRPr lang="en-US"/>
        </a:p>
      </dgm:t>
    </dgm:pt>
    <dgm:pt modelId="{65889BAA-25DE-406A-B47D-10B742BCF942}" type="sibTrans" cxnId="{8EC643BE-4904-4D1B-A33B-997D6A983458}">
      <dgm:prSet/>
      <dgm:spPr/>
      <dgm:t>
        <a:bodyPr/>
        <a:lstStyle/>
        <a:p>
          <a:pPr>
            <a:lnSpc>
              <a:spcPct val="100000"/>
            </a:lnSpc>
            <a:defRPr b="1"/>
          </a:pPr>
          <a:endParaRPr lang="en-US"/>
        </a:p>
      </dgm:t>
    </dgm:pt>
    <dgm:pt modelId="{7AFD96D9-FC7C-4E44-B15B-97D8D53215A7}">
      <dgm:prSet/>
      <dgm:spPr/>
      <dgm:t>
        <a:bodyPr/>
        <a:lstStyle/>
        <a:p>
          <a:pPr>
            <a:lnSpc>
              <a:spcPct val="100000"/>
            </a:lnSpc>
          </a:pPr>
          <a:r>
            <a:rPr lang="en-US" b="0" dirty="0"/>
            <a:t>A significant strength is that 100% of our customer base is marked as active, indicating a high-quality starting list.</a:t>
          </a:r>
        </a:p>
      </dgm:t>
    </dgm:pt>
    <dgm:pt modelId="{611A326B-55B5-4AAA-A526-ADDE5AF6D801}" type="parTrans" cxnId="{83DBC655-54ED-41D4-A01B-E036C9A62B79}">
      <dgm:prSet/>
      <dgm:spPr/>
      <dgm:t>
        <a:bodyPr/>
        <a:lstStyle/>
        <a:p>
          <a:endParaRPr lang="en-US"/>
        </a:p>
      </dgm:t>
    </dgm:pt>
    <dgm:pt modelId="{7D8D8D0F-EEF6-4EEE-8608-E6E61C6038D5}" type="sibTrans" cxnId="{83DBC655-54ED-41D4-A01B-E036C9A62B79}">
      <dgm:prSet/>
      <dgm:spPr/>
      <dgm:t>
        <a:bodyPr/>
        <a:lstStyle/>
        <a:p>
          <a:endParaRPr lang="en-US"/>
        </a:p>
      </dgm:t>
    </dgm:pt>
    <dgm:pt modelId="{01E79634-1798-4642-B68F-0C70D9A00FBD}">
      <dgm:prSet/>
      <dgm:spPr/>
      <dgm:t>
        <a:bodyPr/>
        <a:lstStyle/>
        <a:p>
          <a:pPr>
            <a:lnSpc>
              <a:spcPct val="100000"/>
            </a:lnSpc>
            <a:defRPr b="1"/>
          </a:pPr>
          <a:r>
            <a:rPr lang="en-US" b="1" dirty="0"/>
            <a:t>Store 1 Dominance</a:t>
          </a:r>
          <a:endParaRPr lang="en-US" dirty="0"/>
        </a:p>
      </dgm:t>
    </dgm:pt>
    <dgm:pt modelId="{4355AF98-EFA5-4FE0-9540-B2EFF1FF3675}" type="parTrans" cxnId="{BDEA39AA-B87C-4B37-9AD7-3EEC00D90180}">
      <dgm:prSet/>
      <dgm:spPr/>
      <dgm:t>
        <a:bodyPr/>
        <a:lstStyle/>
        <a:p>
          <a:endParaRPr lang="en-US"/>
        </a:p>
      </dgm:t>
    </dgm:pt>
    <dgm:pt modelId="{5DB1874A-DD4A-4A1B-B8A7-5DA56E7C1A93}" type="sibTrans" cxnId="{BDEA39AA-B87C-4B37-9AD7-3EEC00D90180}">
      <dgm:prSet/>
      <dgm:spPr/>
      <dgm:t>
        <a:bodyPr/>
        <a:lstStyle/>
        <a:p>
          <a:pPr>
            <a:lnSpc>
              <a:spcPct val="100000"/>
            </a:lnSpc>
            <a:defRPr b="1"/>
          </a:pPr>
          <a:endParaRPr lang="en-US"/>
        </a:p>
      </dgm:t>
    </dgm:pt>
    <dgm:pt modelId="{27BEF7EA-1EB5-4D27-A7CD-E0B8EAD2DF91}">
      <dgm:prSet/>
      <dgm:spPr/>
      <dgm:t>
        <a:bodyPr/>
        <a:lstStyle/>
        <a:p>
          <a:pPr>
            <a:lnSpc>
              <a:spcPct val="100000"/>
            </a:lnSpc>
          </a:pPr>
          <a:r>
            <a:rPr lang="en-US" dirty="0"/>
            <a:t>Store 1 is the higher driver of this customer base, showing a better response to our targeted campaign and Valentine’s event.</a:t>
          </a:r>
        </a:p>
        <a:p>
          <a:pPr>
            <a:lnSpc>
              <a:spcPct val="100000"/>
            </a:lnSpc>
          </a:pPr>
          <a:r>
            <a:rPr lang="en-US" dirty="0"/>
            <a:t>We should analyze the factors (geographic, operational, or marketing) behind this dominance to replicate its success across the entire </a:t>
          </a:r>
          <a:r>
            <a:rPr lang="en-US" dirty="0" err="1"/>
            <a:t>Rockbuster</a:t>
          </a:r>
          <a:r>
            <a:rPr lang="en-US" dirty="0"/>
            <a:t> network.</a:t>
          </a:r>
        </a:p>
      </dgm:t>
    </dgm:pt>
    <dgm:pt modelId="{BFF4BDA4-49B3-4DE5-80CF-826B561AE25B}" type="parTrans" cxnId="{479CFD18-44D5-47CF-AA7F-46DB64050B26}">
      <dgm:prSet/>
      <dgm:spPr/>
      <dgm:t>
        <a:bodyPr/>
        <a:lstStyle/>
        <a:p>
          <a:endParaRPr lang="en-US"/>
        </a:p>
      </dgm:t>
    </dgm:pt>
    <dgm:pt modelId="{725285D8-23DD-44E8-9BF3-F1007863A3C9}" type="sibTrans" cxnId="{479CFD18-44D5-47CF-AA7F-46DB64050B26}">
      <dgm:prSet/>
      <dgm:spPr/>
      <dgm:t>
        <a:bodyPr/>
        <a:lstStyle/>
        <a:p>
          <a:endParaRPr lang="en-US"/>
        </a:p>
      </dgm:t>
    </dgm:pt>
    <dgm:pt modelId="{51E652CF-E355-44BC-87B3-CE51BF19D39E}">
      <dgm:prSet/>
      <dgm:spPr/>
      <dgm:t>
        <a:bodyPr/>
        <a:lstStyle/>
        <a:p>
          <a:pPr>
            <a:lnSpc>
              <a:spcPct val="100000"/>
            </a:lnSpc>
            <a:defRPr b="1"/>
          </a:pPr>
          <a:r>
            <a:rPr lang="en-US" dirty="0"/>
            <a:t>Mass Acquisition Event</a:t>
          </a:r>
        </a:p>
      </dgm:t>
    </dgm:pt>
    <dgm:pt modelId="{C4FA6F2A-410A-42F6-93E7-8059F2D3FF3E}" type="parTrans" cxnId="{E3583C8B-389B-45F8-987C-F214F5215750}">
      <dgm:prSet/>
      <dgm:spPr/>
      <dgm:t>
        <a:bodyPr/>
        <a:lstStyle/>
        <a:p>
          <a:endParaRPr lang="en-US"/>
        </a:p>
      </dgm:t>
    </dgm:pt>
    <dgm:pt modelId="{3606C478-8696-4893-B15F-B807D9A8A944}" type="sibTrans" cxnId="{E3583C8B-389B-45F8-987C-F214F5215750}">
      <dgm:prSet/>
      <dgm:spPr/>
      <dgm:t>
        <a:bodyPr/>
        <a:lstStyle/>
        <a:p>
          <a:endParaRPr lang="en-US"/>
        </a:p>
      </dgm:t>
    </dgm:pt>
    <dgm:pt modelId="{51E4E9EC-2BE5-416B-A44D-E1D22CF9F142}" type="pres">
      <dgm:prSet presAssocID="{C1EEACC6-103D-48F6-9D42-482E3E83C0A1}" presName="Root" presStyleCnt="0">
        <dgm:presLayoutVars>
          <dgm:dir/>
          <dgm:resizeHandles val="exact"/>
        </dgm:presLayoutVars>
      </dgm:prSet>
      <dgm:spPr/>
    </dgm:pt>
    <dgm:pt modelId="{A9A41EC2-0B0D-4697-8181-8005FDCD607D}" type="pres">
      <dgm:prSet presAssocID="{F77E0617-66A2-4859-BDD6-C162FC9A0597}" presName="Composite" presStyleCnt="0"/>
      <dgm:spPr/>
    </dgm:pt>
    <dgm:pt modelId="{5092F592-82D3-425F-8A66-770AB81FB296}" type="pres">
      <dgm:prSet presAssocID="{F77E0617-66A2-4859-BDD6-C162FC9A059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161" r="18591" b="4"/>
          <a:stretch/>
        </a:blipFill>
      </dgm:spPr>
      <dgm:extLst>
        <a:ext uri="{E40237B7-FDA0-4F09-8148-C483321AD2D9}">
          <dgm14:cNvPr xmlns:dgm14="http://schemas.microsoft.com/office/drawing/2010/diagram" id="0" name="" descr="Stacked audio cassettes"/>
        </a:ext>
      </dgm:extLst>
    </dgm:pt>
    <dgm:pt modelId="{25418901-7A64-4FB1-9896-D4D6EB607E84}" type="pres">
      <dgm:prSet presAssocID="{F77E0617-66A2-4859-BDD6-C162FC9A0597}" presName="Subtitle" presStyleLbl="revTx" presStyleIdx="0" presStyleCnt="6">
        <dgm:presLayoutVars>
          <dgm:chMax val="0"/>
          <dgm:bulletEnabled/>
        </dgm:presLayoutVars>
      </dgm:prSet>
      <dgm:spPr/>
    </dgm:pt>
    <dgm:pt modelId="{63A9AC8A-5E98-4240-9571-78AEA568E9CB}" type="pres">
      <dgm:prSet presAssocID="{F77E0617-66A2-4859-BDD6-C162FC9A0597}" presName="Description" presStyleLbl="revTx" presStyleIdx="1" presStyleCnt="6">
        <dgm:presLayoutVars>
          <dgm:bulletEnabled/>
        </dgm:presLayoutVars>
      </dgm:prSet>
      <dgm:spPr/>
    </dgm:pt>
    <dgm:pt modelId="{12CC6CAD-C43B-40D7-8328-495D050AB460}" type="pres">
      <dgm:prSet presAssocID="{65889BAA-25DE-406A-B47D-10B742BCF942}" presName="sibTrans" presStyleLbl="sibTrans2D1" presStyleIdx="0" presStyleCnt="0"/>
      <dgm:spPr/>
    </dgm:pt>
    <dgm:pt modelId="{928F0BF1-8D50-4045-BA92-4CDCA1A2B62A}" type="pres">
      <dgm:prSet presAssocID="{01E79634-1798-4642-B68F-0C70D9A00FBD}" presName="Composite" presStyleCnt="0"/>
      <dgm:spPr/>
    </dgm:pt>
    <dgm:pt modelId="{EFA548C1-CF9E-4E92-868B-0BFB3AEF5514}" type="pres">
      <dgm:prSet presAssocID="{01E79634-1798-4642-B68F-0C70D9A00FBD}" presName="Picture" presStyleLbl="node1" presStyleIdx="1" presStyleCnt="3"/>
      <dgm:spPr/>
    </dgm:pt>
    <dgm:pt modelId="{A5515D90-80EB-455D-832A-ABF25BB005C6}" type="pres">
      <dgm:prSet presAssocID="{01E79634-1798-4642-B68F-0C70D9A00FBD}" presName="Subtitle" presStyleLbl="revTx" presStyleIdx="2" presStyleCnt="6" custLinFactY="300000" custLinFactNeighborX="-270" custLinFactNeighborY="330609">
        <dgm:presLayoutVars>
          <dgm:chMax val="0"/>
          <dgm:bulletEnabled/>
        </dgm:presLayoutVars>
      </dgm:prSet>
      <dgm:spPr/>
    </dgm:pt>
    <dgm:pt modelId="{9612AEF9-0C86-4CF2-B3E1-24240C74B6A2}" type="pres">
      <dgm:prSet presAssocID="{01E79634-1798-4642-B68F-0C70D9A00FBD}" presName="Description" presStyleLbl="revTx" presStyleIdx="3" presStyleCnt="6" custLinFactY="35331" custLinFactNeighborX="-402" custLinFactNeighborY="100000">
        <dgm:presLayoutVars>
          <dgm:bulletEnabled/>
        </dgm:presLayoutVars>
      </dgm:prSet>
      <dgm:spPr/>
    </dgm:pt>
    <dgm:pt modelId="{310158FE-C6C7-4E87-9FC2-6D291BF093B6}" type="pres">
      <dgm:prSet presAssocID="{5DB1874A-DD4A-4A1B-B8A7-5DA56E7C1A93}" presName="sibTrans" presStyleLbl="sibTrans2D1" presStyleIdx="0" presStyleCnt="0"/>
      <dgm:spPr/>
    </dgm:pt>
    <dgm:pt modelId="{131078CF-C00D-469E-992D-18BE8DE3096E}" type="pres">
      <dgm:prSet presAssocID="{51E652CF-E355-44BC-87B3-CE51BF19D39E}" presName="Composite" presStyleCnt="0"/>
      <dgm:spPr/>
    </dgm:pt>
    <dgm:pt modelId="{FEB6C9DE-CC8D-437E-9A36-F8B09FA4BFCF}" type="pres">
      <dgm:prSet presAssocID="{51E652CF-E355-44BC-87B3-CE51BF19D39E}" presName="Picture" presStyleLbl="node1" presStyleIdx="2" presStyleCnt="3"/>
      <dgm:spPr/>
    </dgm:pt>
    <dgm:pt modelId="{68FFC8CF-A9A1-4612-917D-5096BEEB35DB}" type="pres">
      <dgm:prSet presAssocID="{51E652CF-E355-44BC-87B3-CE51BF19D39E}" presName="Subtitle" presStyleLbl="revTx" presStyleIdx="4" presStyleCnt="6" custLinFactY="-296860" custLinFactNeighborX="308" custLinFactNeighborY="-300000">
        <dgm:presLayoutVars>
          <dgm:chMax val="0"/>
          <dgm:bulletEnabled/>
        </dgm:presLayoutVars>
      </dgm:prSet>
      <dgm:spPr/>
    </dgm:pt>
    <dgm:pt modelId="{B2F4ABA7-DD54-41E5-86D3-1F459D303BB3}" type="pres">
      <dgm:prSet presAssocID="{51E652CF-E355-44BC-87B3-CE51BF19D39E}" presName="Description" presStyleLbl="revTx" presStyleIdx="5" presStyleCnt="6" custScaleX="88074" custScaleY="76311" custLinFactY="-37897" custLinFactNeighborX="-503" custLinFactNeighborY="-100000">
        <dgm:presLayoutVars>
          <dgm:bulletEnabled/>
        </dgm:presLayoutVars>
      </dgm:prSet>
      <dgm:spPr/>
    </dgm:pt>
  </dgm:ptLst>
  <dgm:cxnLst>
    <dgm:cxn modelId="{479CFD18-44D5-47CF-AA7F-46DB64050B26}" srcId="{01E79634-1798-4642-B68F-0C70D9A00FBD}" destId="{27BEF7EA-1EB5-4D27-A7CD-E0B8EAD2DF91}" srcOrd="0" destOrd="0" parTransId="{BFF4BDA4-49B3-4DE5-80CF-826B561AE25B}" sibTransId="{725285D8-23DD-44E8-9BF3-F1007863A3C9}"/>
    <dgm:cxn modelId="{371D6B2B-A3D8-4E4C-ACF3-2B9E483C200B}" type="presOf" srcId="{5DB1874A-DD4A-4A1B-B8A7-5DA56E7C1A93}" destId="{310158FE-C6C7-4E87-9FC2-6D291BF093B6}" srcOrd="0" destOrd="0" presId="urn:microsoft.com/office/officeart/2024/3/layout/verticalVisualTextBlock1"/>
    <dgm:cxn modelId="{93F82D5C-7A16-4ECC-8E5D-0DA8329F6C44}" type="presOf" srcId="{27BEF7EA-1EB5-4D27-A7CD-E0B8EAD2DF91}" destId="{9612AEF9-0C86-4CF2-B3E1-24240C74B6A2}" srcOrd="0" destOrd="0" presId="urn:microsoft.com/office/officeart/2024/3/layout/verticalVisualTextBlock1"/>
    <dgm:cxn modelId="{82B17242-D4DB-497A-9F3C-EC7E8BB5EB64}" type="presOf" srcId="{C1EEACC6-103D-48F6-9D42-482E3E83C0A1}" destId="{51E4E9EC-2BE5-416B-A44D-E1D22CF9F142}" srcOrd="0" destOrd="0" presId="urn:microsoft.com/office/officeart/2024/3/layout/verticalVisualTextBlock1"/>
    <dgm:cxn modelId="{9ECDAF50-4201-42BC-9C11-B19527B77645}" type="presOf" srcId="{F77E0617-66A2-4859-BDD6-C162FC9A0597}" destId="{25418901-7A64-4FB1-9896-D4D6EB607E84}" srcOrd="0" destOrd="0" presId="urn:microsoft.com/office/officeart/2024/3/layout/verticalVisualTextBlock1"/>
    <dgm:cxn modelId="{83DBC655-54ED-41D4-A01B-E036C9A62B79}" srcId="{F77E0617-66A2-4859-BDD6-C162FC9A0597}" destId="{7AFD96D9-FC7C-4E44-B15B-97D8D53215A7}" srcOrd="0" destOrd="0" parTransId="{611A326B-55B5-4AAA-A526-ADDE5AF6D801}" sibTransId="{7D8D8D0F-EEF6-4EEE-8608-E6E61C6038D5}"/>
    <dgm:cxn modelId="{E3583C8B-389B-45F8-987C-F214F5215750}" srcId="{C1EEACC6-103D-48F6-9D42-482E3E83C0A1}" destId="{51E652CF-E355-44BC-87B3-CE51BF19D39E}" srcOrd="2" destOrd="0" parTransId="{C4FA6F2A-410A-42F6-93E7-8059F2D3FF3E}" sibTransId="{3606C478-8696-4893-B15F-B807D9A8A944}"/>
    <dgm:cxn modelId="{BDEA39AA-B87C-4B37-9AD7-3EEC00D90180}" srcId="{C1EEACC6-103D-48F6-9D42-482E3E83C0A1}" destId="{01E79634-1798-4642-B68F-0C70D9A00FBD}" srcOrd="1" destOrd="0" parTransId="{4355AF98-EFA5-4FE0-9540-B2EFF1FF3675}" sibTransId="{5DB1874A-DD4A-4A1B-B8A7-5DA56E7C1A93}"/>
    <dgm:cxn modelId="{8FEE9DB4-CB59-45C8-A17D-9F4E38233557}" type="presOf" srcId="{51E652CF-E355-44BC-87B3-CE51BF19D39E}" destId="{68FFC8CF-A9A1-4612-917D-5096BEEB35DB}" srcOrd="0" destOrd="0" presId="urn:microsoft.com/office/officeart/2024/3/layout/verticalVisualTextBlock1"/>
    <dgm:cxn modelId="{8EC643BE-4904-4D1B-A33B-997D6A983458}" srcId="{C1EEACC6-103D-48F6-9D42-482E3E83C0A1}" destId="{F77E0617-66A2-4859-BDD6-C162FC9A0597}" srcOrd="0" destOrd="0" parTransId="{F0F3D86C-635E-41CC-B63D-AC279174737E}" sibTransId="{65889BAA-25DE-406A-B47D-10B742BCF942}"/>
    <dgm:cxn modelId="{96521BC5-7EB7-407F-A66D-27B017DCFB25}" type="presOf" srcId="{01E79634-1798-4642-B68F-0C70D9A00FBD}" destId="{A5515D90-80EB-455D-832A-ABF25BB005C6}" srcOrd="0" destOrd="0" presId="urn:microsoft.com/office/officeart/2024/3/layout/verticalVisualTextBlock1"/>
    <dgm:cxn modelId="{7B69B3DD-7A72-494C-9EE4-DC50F84BF338}" type="presOf" srcId="{65889BAA-25DE-406A-B47D-10B742BCF942}" destId="{12CC6CAD-C43B-40D7-8328-495D050AB460}" srcOrd="0" destOrd="0" presId="urn:microsoft.com/office/officeart/2024/3/layout/verticalVisualTextBlock1"/>
    <dgm:cxn modelId="{A45BADEB-94C7-4FD5-AD7F-DC0807FC5C0C}" type="presOf" srcId="{7AFD96D9-FC7C-4E44-B15B-97D8D53215A7}" destId="{63A9AC8A-5E98-4240-9571-78AEA568E9CB}" srcOrd="0" destOrd="0" presId="urn:microsoft.com/office/officeart/2024/3/layout/verticalVisualTextBlock1"/>
    <dgm:cxn modelId="{9E283BBD-8B06-4465-AF60-CE873B1AE929}" type="presParOf" srcId="{51E4E9EC-2BE5-416B-A44D-E1D22CF9F142}" destId="{A9A41EC2-0B0D-4697-8181-8005FDCD607D}" srcOrd="0" destOrd="0" presId="urn:microsoft.com/office/officeart/2024/3/layout/verticalVisualTextBlock1"/>
    <dgm:cxn modelId="{91C55FBC-A659-40DE-B7D0-640D3833FA68}" type="presParOf" srcId="{A9A41EC2-0B0D-4697-8181-8005FDCD607D}" destId="{5092F592-82D3-425F-8A66-770AB81FB296}" srcOrd="0" destOrd="0" presId="urn:microsoft.com/office/officeart/2024/3/layout/verticalVisualTextBlock1"/>
    <dgm:cxn modelId="{5E18C5D9-BDE2-4AAE-A071-E42595B39CF9}" type="presParOf" srcId="{A9A41EC2-0B0D-4697-8181-8005FDCD607D}" destId="{25418901-7A64-4FB1-9896-D4D6EB607E84}" srcOrd="1" destOrd="0" presId="urn:microsoft.com/office/officeart/2024/3/layout/verticalVisualTextBlock1"/>
    <dgm:cxn modelId="{963FFFA6-7827-41E3-8CBD-F87F0A0BF565}" type="presParOf" srcId="{A9A41EC2-0B0D-4697-8181-8005FDCD607D}" destId="{63A9AC8A-5E98-4240-9571-78AEA568E9CB}" srcOrd="2" destOrd="0" presId="urn:microsoft.com/office/officeart/2024/3/layout/verticalVisualTextBlock1"/>
    <dgm:cxn modelId="{99D9DF07-2F1D-438A-A33C-3E6BC025DF44}" type="presParOf" srcId="{51E4E9EC-2BE5-416B-A44D-E1D22CF9F142}" destId="{12CC6CAD-C43B-40D7-8328-495D050AB460}" srcOrd="1" destOrd="0" presId="urn:microsoft.com/office/officeart/2024/3/layout/verticalVisualTextBlock1"/>
    <dgm:cxn modelId="{685685D3-F5C3-4147-94B7-F35DBEA4F3A9}" type="presParOf" srcId="{51E4E9EC-2BE5-416B-A44D-E1D22CF9F142}" destId="{928F0BF1-8D50-4045-BA92-4CDCA1A2B62A}" srcOrd="2" destOrd="0" presId="urn:microsoft.com/office/officeart/2024/3/layout/verticalVisualTextBlock1"/>
    <dgm:cxn modelId="{A5F5109D-870B-47B9-934F-EABB682A6662}" type="presParOf" srcId="{928F0BF1-8D50-4045-BA92-4CDCA1A2B62A}" destId="{EFA548C1-CF9E-4E92-868B-0BFB3AEF5514}" srcOrd="0" destOrd="0" presId="urn:microsoft.com/office/officeart/2024/3/layout/verticalVisualTextBlock1"/>
    <dgm:cxn modelId="{BC23033A-F257-41D0-860C-3FD04D3AE7B8}" type="presParOf" srcId="{928F0BF1-8D50-4045-BA92-4CDCA1A2B62A}" destId="{A5515D90-80EB-455D-832A-ABF25BB005C6}" srcOrd="1" destOrd="0" presId="urn:microsoft.com/office/officeart/2024/3/layout/verticalVisualTextBlock1"/>
    <dgm:cxn modelId="{551FE418-B6DF-4794-A80E-8118BC790842}" type="presParOf" srcId="{928F0BF1-8D50-4045-BA92-4CDCA1A2B62A}" destId="{9612AEF9-0C86-4CF2-B3E1-24240C74B6A2}" srcOrd="2" destOrd="0" presId="urn:microsoft.com/office/officeart/2024/3/layout/verticalVisualTextBlock1"/>
    <dgm:cxn modelId="{602D092A-6490-43CC-AFC1-AB5E0350C98B}" type="presParOf" srcId="{51E4E9EC-2BE5-416B-A44D-E1D22CF9F142}" destId="{310158FE-C6C7-4E87-9FC2-6D291BF093B6}" srcOrd="3" destOrd="0" presId="urn:microsoft.com/office/officeart/2024/3/layout/verticalVisualTextBlock1"/>
    <dgm:cxn modelId="{0F219583-8F38-44F6-96F8-DE8A4A01A222}" type="presParOf" srcId="{51E4E9EC-2BE5-416B-A44D-E1D22CF9F142}" destId="{131078CF-C00D-469E-992D-18BE8DE3096E}" srcOrd="4" destOrd="0" presId="urn:microsoft.com/office/officeart/2024/3/layout/verticalVisualTextBlock1"/>
    <dgm:cxn modelId="{180CB3E4-1D62-4A51-93E0-85E218A0E7AB}" type="presParOf" srcId="{131078CF-C00D-469E-992D-18BE8DE3096E}" destId="{FEB6C9DE-CC8D-437E-9A36-F8B09FA4BFCF}" srcOrd="0" destOrd="0" presId="urn:microsoft.com/office/officeart/2024/3/layout/verticalVisualTextBlock1"/>
    <dgm:cxn modelId="{15FABB5E-9747-4437-8CFA-8FBE5AC2B1F4}" type="presParOf" srcId="{131078CF-C00D-469E-992D-18BE8DE3096E}" destId="{68FFC8CF-A9A1-4612-917D-5096BEEB35DB}" srcOrd="1" destOrd="0" presId="urn:microsoft.com/office/officeart/2024/3/layout/verticalVisualTextBlock1"/>
    <dgm:cxn modelId="{A279AE9B-302E-44B4-8FB8-13AEFB0216BB}" type="presParOf" srcId="{131078CF-C00D-469E-992D-18BE8DE3096E}" destId="{B2F4ABA7-DD54-41E5-86D3-1F459D303BB3}" srcOrd="2" destOrd="0" presId="urn:microsoft.com/office/officeart/2024/3/layout/verticalVisualTextBlock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F592-82D3-425F-8A66-770AB81FB296}">
      <dsp:nvSpPr>
        <dsp:cNvPr id="0" name=""/>
        <dsp:cNvSpPr/>
      </dsp:nvSpPr>
      <dsp:spPr>
        <a:xfrm>
          <a:off x="0" y="0"/>
          <a:ext cx="1960689" cy="196068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161" r="18591" b="4"/>
          <a:stretch/>
        </a:blipFill>
        <a:ln>
          <a:noFill/>
        </a:ln>
        <a:effectLst/>
      </dsp:spPr>
      <dsp:style>
        <a:lnRef idx="0">
          <a:scrgbClr r="0" g="0" b="0"/>
        </a:lnRef>
        <a:fillRef idx="3">
          <a:scrgbClr r="0" g="0" b="0"/>
        </a:fillRef>
        <a:effectRef idx="2">
          <a:scrgbClr r="0" g="0" b="0"/>
        </a:effectRef>
        <a:fontRef idx="minor">
          <a:schemeClr val="lt1"/>
        </a:fontRef>
      </dsp:style>
    </dsp:sp>
    <dsp:sp modelId="{25418901-7A64-4FB1-9896-D4D6EB607E84}">
      <dsp:nvSpPr>
        <dsp:cNvPr id="0" name=""/>
        <dsp:cNvSpPr/>
      </dsp:nvSpPr>
      <dsp:spPr>
        <a:xfrm>
          <a:off x="2140689" y="0"/>
          <a:ext cx="9716183" cy="336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Total Active Customers:</a:t>
          </a:r>
          <a:r>
            <a:rPr lang="en-US" sz="1800" kern="1200" dirty="0"/>
            <a:t> 599.</a:t>
          </a:r>
        </a:p>
      </dsp:txBody>
      <dsp:txXfrm>
        <a:off x="2140689" y="0"/>
        <a:ext cx="9716183" cy="336765"/>
      </dsp:txXfrm>
    </dsp:sp>
    <dsp:sp modelId="{63A9AC8A-5E98-4240-9571-78AEA568E9CB}">
      <dsp:nvSpPr>
        <dsp:cNvPr id="0" name=""/>
        <dsp:cNvSpPr/>
      </dsp:nvSpPr>
      <dsp:spPr>
        <a:xfrm>
          <a:off x="2140689" y="336765"/>
          <a:ext cx="9716183" cy="159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kern="1200" dirty="0"/>
            <a:t>A significant strength is that 100% of our customer base is marked as active, indicating a high-quality starting list.</a:t>
          </a:r>
        </a:p>
      </dsp:txBody>
      <dsp:txXfrm>
        <a:off x="2140689" y="336765"/>
        <a:ext cx="9716183" cy="1594993"/>
      </dsp:txXfrm>
    </dsp:sp>
    <dsp:sp modelId="{EFA548C1-CF9E-4E92-868B-0BFB3AEF5514}">
      <dsp:nvSpPr>
        <dsp:cNvPr id="0" name=""/>
        <dsp:cNvSpPr/>
      </dsp:nvSpPr>
      <dsp:spPr>
        <a:xfrm>
          <a:off x="0" y="2117544"/>
          <a:ext cx="1960689" cy="196068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5515D90-80EB-455D-832A-ABF25BB005C6}">
      <dsp:nvSpPr>
        <dsp:cNvPr id="0" name=""/>
        <dsp:cNvSpPr/>
      </dsp:nvSpPr>
      <dsp:spPr>
        <a:xfrm>
          <a:off x="2114455" y="4241219"/>
          <a:ext cx="9716183" cy="336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Store 1 Dominance</a:t>
          </a:r>
          <a:endParaRPr lang="en-US" sz="1800" kern="1200" dirty="0"/>
        </a:p>
      </dsp:txBody>
      <dsp:txXfrm>
        <a:off x="2114455" y="4241219"/>
        <a:ext cx="9716183" cy="336765"/>
      </dsp:txXfrm>
    </dsp:sp>
    <dsp:sp modelId="{9612AEF9-0C86-4CF2-B3E1-24240C74B6A2}">
      <dsp:nvSpPr>
        <dsp:cNvPr id="0" name=""/>
        <dsp:cNvSpPr/>
      </dsp:nvSpPr>
      <dsp:spPr>
        <a:xfrm>
          <a:off x="2101630" y="4604106"/>
          <a:ext cx="9716183" cy="1594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Store 1 is the higher driver of this customer base, showing a better response to our targeted campaign and Valentine’s event.</a:t>
          </a:r>
        </a:p>
        <a:p>
          <a:pPr marL="0" lvl="0" indent="0" algn="l" defTabSz="622300">
            <a:lnSpc>
              <a:spcPct val="100000"/>
            </a:lnSpc>
            <a:spcBef>
              <a:spcPct val="0"/>
            </a:spcBef>
            <a:spcAft>
              <a:spcPct val="35000"/>
            </a:spcAft>
            <a:buNone/>
          </a:pPr>
          <a:r>
            <a:rPr lang="en-US" sz="1400" kern="1200" dirty="0"/>
            <a:t>We should analyze the factors (geographic, operational, or marketing) behind this dominance to replicate its success across the entire </a:t>
          </a:r>
          <a:r>
            <a:rPr lang="en-US" sz="1400" kern="1200" dirty="0" err="1"/>
            <a:t>Rockbuster</a:t>
          </a:r>
          <a:r>
            <a:rPr lang="en-US" sz="1400" kern="1200" dirty="0"/>
            <a:t> network.</a:t>
          </a:r>
        </a:p>
      </dsp:txBody>
      <dsp:txXfrm>
        <a:off x="2101630" y="4604106"/>
        <a:ext cx="9716183" cy="1594993"/>
      </dsp:txXfrm>
    </dsp:sp>
    <dsp:sp modelId="{FEB6C9DE-CC8D-437E-9A36-F8B09FA4BFCF}">
      <dsp:nvSpPr>
        <dsp:cNvPr id="0" name=""/>
        <dsp:cNvSpPr/>
      </dsp:nvSpPr>
      <dsp:spPr>
        <a:xfrm>
          <a:off x="0" y="4235088"/>
          <a:ext cx="1960689" cy="196068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68FFC8CF-A9A1-4612-917D-5096BEEB35DB}">
      <dsp:nvSpPr>
        <dsp:cNvPr id="0" name=""/>
        <dsp:cNvSpPr/>
      </dsp:nvSpPr>
      <dsp:spPr>
        <a:xfrm>
          <a:off x="2170614" y="2225068"/>
          <a:ext cx="9716183" cy="336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Mass Acquisition Event</a:t>
          </a:r>
        </a:p>
      </dsp:txBody>
      <dsp:txXfrm>
        <a:off x="2170614" y="2225068"/>
        <a:ext cx="9716183" cy="336765"/>
      </dsp:txXfrm>
    </dsp:sp>
    <dsp:sp modelId="{B2F4ABA7-DD54-41E5-86D3-1F459D303BB3}">
      <dsp:nvSpPr>
        <dsp:cNvPr id="0" name=""/>
        <dsp:cNvSpPr/>
      </dsp:nvSpPr>
      <dsp:spPr>
        <a:xfrm>
          <a:off x="2671192" y="2561324"/>
          <a:ext cx="8557431" cy="121715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0E71F7-0BD2-4BF9-AF95-B1807E36110B}"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64A90A-97AB-4E7C-8FB2-713248726F06}" type="slidenum">
              <a:rPr lang="en-US" smtClean="0"/>
              <a:t>‹#›</a:t>
            </a:fld>
            <a:endParaRPr lang="en-US"/>
          </a:p>
        </p:txBody>
      </p:sp>
    </p:spTree>
    <p:extLst>
      <p:ext uri="{BB962C8B-B14F-4D97-AF65-F5344CB8AC3E}">
        <p14:creationId xmlns:p14="http://schemas.microsoft.com/office/powerpoint/2010/main" val="335631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0E05B2-27D2-47AB-8BF8-BDCD509AA3E8}" type="slidenum">
              <a:rPr lang="en-US" smtClean="0"/>
              <a:t>1</a:t>
            </a:fld>
            <a:endParaRPr lang="en-US"/>
          </a:p>
        </p:txBody>
      </p:sp>
    </p:spTree>
    <p:extLst>
      <p:ext uri="{BB962C8B-B14F-4D97-AF65-F5344CB8AC3E}">
        <p14:creationId xmlns:p14="http://schemas.microsoft.com/office/powerpoint/2010/main" val="2610662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begin by reviewing Rockbuster's current business model, followed by an analysis of market trends and challenges. Then, we'll discuss innovative growth strategies and operational improvements. Finally, we'll outline the vision for Rockbuster's future development and sustainability.</a:t>
            </a:r>
          </a:p>
        </p:txBody>
      </p:sp>
      <p:sp>
        <p:nvSpPr>
          <p:cNvPr id="4" name="Slide Number Placeholder 3"/>
          <p:cNvSpPr>
            <a:spLocks noGrp="1"/>
          </p:cNvSpPr>
          <p:nvPr>
            <p:ph type="sldNum" sz="quarter" idx="5"/>
          </p:nvPr>
        </p:nvSpPr>
        <p:spPr/>
        <p:txBody>
          <a:bodyPr/>
          <a:lstStyle/>
          <a:p>
            <a:fld id="{010E05B2-27D2-47AB-8BF8-BDCD509AA3E8}" type="slidenum">
              <a:rPr lang="en-US" smtClean="0"/>
              <a:t>2</a:t>
            </a:fld>
            <a:endParaRPr lang="en-US"/>
          </a:p>
        </p:txBody>
      </p:sp>
    </p:spTree>
    <p:extLst>
      <p:ext uri="{BB962C8B-B14F-4D97-AF65-F5344CB8AC3E}">
        <p14:creationId xmlns:p14="http://schemas.microsoft.com/office/powerpoint/2010/main" val="2115872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Rockbuster's core services and operations is key to identifying opportunities for innovation. This section covers customer experience, store logistics, and competitive advantages in the rental market.</a:t>
            </a:r>
          </a:p>
        </p:txBody>
      </p:sp>
      <p:sp>
        <p:nvSpPr>
          <p:cNvPr id="4" name="Slide Number Placeholder 3"/>
          <p:cNvSpPr>
            <a:spLocks noGrp="1"/>
          </p:cNvSpPr>
          <p:nvPr>
            <p:ph type="sldNum" sz="quarter" idx="5"/>
          </p:nvPr>
        </p:nvSpPr>
        <p:spPr/>
        <p:txBody>
          <a:bodyPr/>
          <a:lstStyle/>
          <a:p>
            <a:fld id="{010E05B2-27D2-47AB-8BF8-BDCD509AA3E8}" type="slidenum">
              <a:rPr lang="en-US" smtClean="0"/>
              <a:t>4</a:t>
            </a:fld>
            <a:endParaRPr lang="en-US"/>
          </a:p>
        </p:txBody>
      </p:sp>
    </p:spTree>
    <p:extLst>
      <p:ext uri="{BB962C8B-B14F-4D97-AF65-F5344CB8AC3E}">
        <p14:creationId xmlns:p14="http://schemas.microsoft.com/office/powerpoint/2010/main" val="2440689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Rockbuster offers a curated selection of movie rentals with personalized customer service. The company focuses on creating an engaging and convenient rental experience through knowledgeable staff and user-friendly interfaces.
Image source: Microsoft 365 content library
</a:t>
            </a:r>
          </a:p>
        </p:txBody>
      </p:sp>
      <p:sp>
        <p:nvSpPr>
          <p:cNvPr id="4" name="Slide Number Placeholder 3"/>
          <p:cNvSpPr>
            <a:spLocks noGrp="1"/>
          </p:cNvSpPr>
          <p:nvPr>
            <p:ph type="sldNum" sz="quarter" idx="5"/>
          </p:nvPr>
        </p:nvSpPr>
        <p:spPr/>
        <p:txBody>
          <a:bodyPr/>
          <a:lstStyle/>
          <a:p>
            <a:fld id="{010E05B2-27D2-47AB-8BF8-BDCD509AA3E8}" type="slidenum">
              <a:rPr lang="en-US" smtClean="0"/>
              <a:t>5</a:t>
            </a:fld>
            <a:endParaRPr lang="en-US"/>
          </a:p>
        </p:txBody>
      </p:sp>
    </p:spTree>
    <p:extLst>
      <p:ext uri="{BB962C8B-B14F-4D97-AF65-F5344CB8AC3E}">
        <p14:creationId xmlns:p14="http://schemas.microsoft.com/office/powerpoint/2010/main" val="3984010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explore strategic initiatives aimed at expanding Rockbuster’s market share, including digital rentals, loyalty programs, and partnerships.</a:t>
            </a:r>
          </a:p>
        </p:txBody>
      </p:sp>
      <p:sp>
        <p:nvSpPr>
          <p:cNvPr id="4" name="Slide Number Placeholder 3"/>
          <p:cNvSpPr>
            <a:spLocks noGrp="1"/>
          </p:cNvSpPr>
          <p:nvPr>
            <p:ph type="sldNum" sz="quarter" idx="5"/>
          </p:nvPr>
        </p:nvSpPr>
        <p:spPr/>
        <p:txBody>
          <a:bodyPr/>
          <a:lstStyle/>
          <a:p>
            <a:fld id="{010E05B2-27D2-47AB-8BF8-BDCD509AA3E8}" type="slidenum">
              <a:rPr lang="en-US" smtClean="0"/>
              <a:t>6</a:t>
            </a:fld>
            <a:endParaRPr lang="en-US"/>
          </a:p>
        </p:txBody>
      </p:sp>
    </p:spTree>
    <p:extLst>
      <p:ext uri="{BB962C8B-B14F-4D97-AF65-F5344CB8AC3E}">
        <p14:creationId xmlns:p14="http://schemas.microsoft.com/office/powerpoint/2010/main" val="2906388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Optimizing internal processes boosts Rockbuster’s productivity and service quality. This section focuses on inventory, data use, and staff development.</a:t>
            </a:r>
          </a:p>
        </p:txBody>
      </p:sp>
      <p:sp>
        <p:nvSpPr>
          <p:cNvPr id="4" name="Slide Number Placeholder 3"/>
          <p:cNvSpPr>
            <a:spLocks noGrp="1"/>
          </p:cNvSpPr>
          <p:nvPr>
            <p:ph type="sldNum" sz="quarter" idx="5"/>
          </p:nvPr>
        </p:nvSpPr>
        <p:spPr/>
        <p:txBody>
          <a:bodyPr/>
          <a:lstStyle/>
          <a:p>
            <a:fld id="{010E05B2-27D2-47AB-8BF8-BDCD509AA3E8}" type="slidenum">
              <a:rPr lang="en-US" smtClean="0"/>
              <a:t>8</a:t>
            </a:fld>
            <a:endParaRPr lang="en-US"/>
          </a:p>
        </p:txBody>
      </p:sp>
    </p:spTree>
    <p:extLst>
      <p:ext uri="{BB962C8B-B14F-4D97-AF65-F5344CB8AC3E}">
        <p14:creationId xmlns:p14="http://schemas.microsoft.com/office/powerpoint/2010/main" val="3886628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Introducing online rentals and streaming services can broaden Rockbuster’s reach and cater to evolving customer preferences.
Image source: Microsoft 365 content library
</a:t>
            </a:r>
          </a:p>
        </p:txBody>
      </p:sp>
      <p:sp>
        <p:nvSpPr>
          <p:cNvPr id="4" name="Slide Number Placeholder 3"/>
          <p:cNvSpPr>
            <a:spLocks noGrp="1"/>
          </p:cNvSpPr>
          <p:nvPr>
            <p:ph type="sldNum" sz="quarter" idx="5"/>
          </p:nvPr>
        </p:nvSpPr>
        <p:spPr/>
        <p:txBody>
          <a:bodyPr/>
          <a:lstStyle/>
          <a:p>
            <a:fld id="{010E05B2-27D2-47AB-8BF8-BDCD509AA3E8}" type="slidenum">
              <a:rPr lang="en-US" smtClean="0"/>
              <a:t>10</a:t>
            </a:fld>
            <a:endParaRPr lang="en-US"/>
          </a:p>
        </p:txBody>
      </p:sp>
    </p:spTree>
    <p:extLst>
      <p:ext uri="{BB962C8B-B14F-4D97-AF65-F5344CB8AC3E}">
        <p14:creationId xmlns:p14="http://schemas.microsoft.com/office/powerpoint/2010/main" val="2724625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Leveraging technology to track inventory in real-time helps reduce shortages and overstock, improving customer satisfaction and cost control.
Image source: Microsoft 365 content library
</a:t>
            </a:r>
          </a:p>
        </p:txBody>
      </p:sp>
      <p:sp>
        <p:nvSpPr>
          <p:cNvPr id="4" name="Slide Number Placeholder 3"/>
          <p:cNvSpPr>
            <a:spLocks noGrp="1"/>
          </p:cNvSpPr>
          <p:nvPr>
            <p:ph type="sldNum" sz="quarter" idx="5"/>
          </p:nvPr>
        </p:nvSpPr>
        <p:spPr/>
        <p:txBody>
          <a:bodyPr/>
          <a:lstStyle/>
          <a:p>
            <a:fld id="{010E05B2-27D2-47AB-8BF8-BDCD509AA3E8}" type="slidenum">
              <a:rPr lang="en-US" smtClean="0"/>
              <a:t>11</a:t>
            </a:fld>
            <a:endParaRPr lang="en-US"/>
          </a:p>
        </p:txBody>
      </p:sp>
    </p:spTree>
    <p:extLst>
      <p:ext uri="{BB962C8B-B14F-4D97-AF65-F5344CB8AC3E}">
        <p14:creationId xmlns:p14="http://schemas.microsoft.com/office/powerpoint/2010/main" val="1581116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Rockbuster’s success hinges on adapting to market changes through innovation, operational excellence, and customer-focused strategies. By embracing these approaches, Rockbuster can thrive in the evolving entertainment landscape.</a:t>
            </a:r>
          </a:p>
        </p:txBody>
      </p:sp>
      <p:sp>
        <p:nvSpPr>
          <p:cNvPr id="4" name="Slide Number Placeholder 3"/>
          <p:cNvSpPr>
            <a:spLocks noGrp="1"/>
          </p:cNvSpPr>
          <p:nvPr>
            <p:ph type="sldNum" sz="quarter" idx="5"/>
          </p:nvPr>
        </p:nvSpPr>
        <p:spPr/>
        <p:txBody>
          <a:bodyPr/>
          <a:lstStyle/>
          <a:p>
            <a:fld id="{010E05B2-27D2-47AB-8BF8-BDCD509AA3E8}" type="slidenum">
              <a:rPr lang="en-US" smtClean="0"/>
              <a:t>12</a:t>
            </a:fld>
            <a:endParaRPr lang="en-US"/>
          </a:p>
        </p:txBody>
      </p:sp>
    </p:spTree>
    <p:extLst>
      <p:ext uri="{BB962C8B-B14F-4D97-AF65-F5344CB8AC3E}">
        <p14:creationId xmlns:p14="http://schemas.microsoft.com/office/powerpoint/2010/main" val="763062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F91071A-A69E-4756-A27D-7C7C5F9F32BB}"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11924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0D1C923-C708-4EAA-A92A-FF81A8F7DA0D}"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29399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761AAA3-5155-4231-8EEA-4F6426D8887B}"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651062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A94E042F-6826-4E41-A6B0-8BF606E4151E}"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7647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3E408205-B154-4943-AEBC-86E16421E5DB}"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436492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D144122-2A67-493C-895E-2682608B0F6A}"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dirty="0"/>
          </a:p>
        </p:txBody>
      </p:sp>
    </p:spTree>
    <p:extLst>
      <p:ext uri="{BB962C8B-B14F-4D97-AF65-F5344CB8AC3E}">
        <p14:creationId xmlns:p14="http://schemas.microsoft.com/office/powerpoint/2010/main" val="742156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486A74E5-A9C0-4E5C-851E-13F6D920EA1A}"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483649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188DBF3-F598-4A31-8E9B-511F7F0D5E47}" type="datetime1">
              <a:rPr lang="en-US" smtClean="0"/>
              <a:t>10/22/2025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38825189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3188DBF3-F598-4A31-8E9B-511F7F0D5E47}" type="datetime1">
              <a:rPr lang="en-US" smtClean="0"/>
              <a:pPr/>
              <a:t>10/22/2025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149329108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10/22/2025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7336691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10/22/2025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17610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39D5A0-3316-4C32-929A-0D0DB97D10BB}"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9201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FBBADD7-305F-4EB9-8736-D791FAF7A4D4}"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02506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649238A-C249-43B5-82BC-D29F8CAE992A}"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65436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546182-1DDF-4ACE-B05D-D855179AB21D}"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59167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879F24-F3CA-4AD0-8BF8-AB0BBB30EE08}"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8278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4342EAA-E00A-40E8-8E99-2669E0367007}"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07187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4035030-C135-4A24-944D-06B773D2F2E6}"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25934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AA5E6FB-0D10-49C4-88DE-98215C666BA1}"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28298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242880F-92D7-4796-B72D-6CF83054BAF5}"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660755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523749-65BA-43BD-B2BF-FF5A4C96AE14}" type="datetime1">
              <a:rPr lang="en-US" smtClean="0"/>
              <a:t>10/22/2025</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966319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561C12A-E1D5-4BE9-85D9-F221F70F4931}"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824188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7BBDBE6-5750-4902-BDAA-20F546DD8AD7}" type="datetime1">
              <a:rPr lang="en-US" smtClean="0"/>
              <a:t>10/22/2025</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509138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1C4331-C33F-4DC1-AB74-C520A718CE2B}"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83224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91A4764-83A9-4A81-9507-BED109D81520}" type="datetime1">
              <a:rPr lang="en-US" smtClean="0"/>
              <a:t>10/22/2025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969124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9B2C6C9-D30C-4946-92A4-454A5FC69685}"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20294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D479CC6-BB04-42D6-AB0C-BAA184663D94}" type="datetime1">
              <a:rPr lang="en-US" smtClean="0"/>
              <a:t>10/22/2025</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859990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B3D66E4-8050-49E4-B8D2-06214BFB7C0A}"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578484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AEA2F-0823-4BD6-88F7-6D0D98F52C93}"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395523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6092A99-204A-46CE-8F70-09D6B2D34877}"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80554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749EA3-15DE-451B-A24B-ACC8EA0B6D09}" type="datetime1">
              <a:rPr lang="en-US" smtClean="0"/>
              <a:t>10/22/2025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7329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1343DB-FCC0-4D52-80F2-173D55390D61}" type="datetime1">
              <a:rPr lang="en-US" smtClean="0"/>
              <a:t>10/22/2025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09957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57C7506-9AD1-49AD-BE44-C83E35401EAD}" type="datetime1">
              <a:rPr lang="en-US" smtClean="0"/>
              <a:t>10/22/2025</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633575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F94BF2A-D949-4DFB-9912-9D6234B797F2}"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35518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563594C-FF61-4FB6-A5E4-597CB7D69CB6}"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84474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9D205C6-AA77-4A66-BB27-EE68DDD0D193}"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9219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64F05DF3-EEC7-45DF-A943-3E12702079E5}" type="datetime1">
              <a:rPr lang="en-US" smtClean="0"/>
              <a:t>10/22/2025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9177121"/>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4F39EAFF-A363-4554-A2A5-F61FABD0CE04}" type="datetime1">
              <a:rPr lang="en-US" smtClean="0"/>
              <a:t>10/22/2025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47370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90F47950-0717-4110-9557-F08D8A545BF8}" type="datetime1">
              <a:rPr lang="en-US" smtClean="0"/>
              <a:t>10/22/2025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52944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11F94A-833D-4D19-8ACB-52DAEF08569A}" type="datetime1">
              <a:rPr lang="en-US" smtClean="0"/>
              <a:t>10/22/2025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82182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350C3A70-5484-4418-A739-7B973E09E7E8}" type="datetime1">
              <a:rPr lang="en-US" smtClean="0"/>
              <a:t>10/22/2025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50681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23A9960C-742D-4508-821A-E36FD033CDBF}" type="datetime1">
              <a:rPr lang="en-US" smtClean="0"/>
              <a:t>10/22/2025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1902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7E0D0A5-9A76-413F-B8E0-5A45841D7E46}"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080669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D0AF003-CBE1-47D7-BB91-14D8E3A57039}" type="datetime1">
              <a:rPr lang="en-US" smtClean="0"/>
              <a:t>10/22/2025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501377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FEEC48-96C8-40C8-BC32-68BFC261013A}" type="datetime1">
              <a:rPr lang="en-US" smtClean="0"/>
              <a:t>10/22/2025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956003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7079F91-8FDB-4AB3-84FB-6B8E68AF702B}" type="datetime1">
              <a:rPr lang="en-US" smtClean="0"/>
              <a:t>10/22/2025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916728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061D436-D43A-4662-BADB-33E2F793B997}" type="datetime1">
              <a:rPr lang="en-US" smtClean="0"/>
              <a:t>10/22/2025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863118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10/22/2025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04103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62F576B-5432-44C5-AE72-B8C78722FE99}" type="datetime1">
              <a:rPr lang="en-US" smtClean="0"/>
              <a:t>10/22/2025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398651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4366CE1-0051-42BD-BBD3-CB4EC65FC51D}" type="datetime1">
              <a:rPr lang="en-US" smtClean="0"/>
              <a:t>10/22/2025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55792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404B75-5BA7-423E-A6AE-B3781CB72AA9}"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4284623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FC1F7B-2472-4057-932A-A13696216B5F}" type="datetime1">
              <a:rPr lang="en-US" smtClean="0"/>
              <a:t>10/22/2025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1758195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8A7B9ABC-2BDA-432C-8D53-84813DB6E36F}" type="datetime1">
              <a:rPr lang="en-US" smtClean="0"/>
              <a:t>10/22/2025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5547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4.png"/><Relationship Id="rId4" Type="http://schemas.openxmlformats.org/officeDocument/2006/relationships/diagramLayout" Target="../diagrams/layout1.xml"/><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5.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B772-4470-70EE-963C-A9EB43A925AB}"/>
              </a:ext>
            </a:extLst>
          </p:cNvPr>
          <p:cNvSpPr>
            <a:spLocks noGrp="1"/>
          </p:cNvSpPr>
          <p:nvPr>
            <p:ph type="ctrTitle"/>
          </p:nvPr>
        </p:nvSpPr>
        <p:spPr>
          <a:xfrm>
            <a:off x="429768" y="438912"/>
            <a:ext cx="9317736" cy="4453128"/>
          </a:xfrm>
        </p:spPr>
        <p:txBody>
          <a:bodyPr anchor="t">
            <a:noAutofit/>
          </a:bodyPr>
          <a:lstStyle/>
          <a:p>
            <a:r>
              <a:rPr lang="en-US" sz="6600" dirty="0" err="1"/>
              <a:t>Rockbuster</a:t>
            </a:r>
            <a:r>
              <a:rPr lang="en-US" sz="6600" dirty="0"/>
              <a:t>: Establishing Our Baseline for Global Profitability and Growth</a:t>
            </a:r>
          </a:p>
        </p:txBody>
      </p:sp>
      <p:sp>
        <p:nvSpPr>
          <p:cNvPr id="3" name="Subtitle 2">
            <a:extLst>
              <a:ext uri="{FF2B5EF4-FFF2-40B4-BE49-F238E27FC236}">
                <a16:creationId xmlns:a16="http://schemas.microsoft.com/office/drawing/2014/main" id="{A932DEF1-DACC-91F9-3167-721F27685A60}"/>
              </a:ext>
            </a:extLst>
          </p:cNvPr>
          <p:cNvSpPr>
            <a:spLocks noGrp="1"/>
          </p:cNvSpPr>
          <p:nvPr>
            <p:ph type="subTitle" idx="1"/>
          </p:nvPr>
        </p:nvSpPr>
        <p:spPr>
          <a:xfrm>
            <a:off x="429768" y="4965192"/>
            <a:ext cx="6266000" cy="1289304"/>
          </a:xfrm>
        </p:spPr>
        <p:txBody>
          <a:bodyPr anchor="b">
            <a:normAutofit/>
          </a:bodyPr>
          <a:lstStyle/>
          <a:p>
            <a:r>
              <a:rPr lang="en-US" dirty="0"/>
              <a:t>A Data Deep Dive into Film &amp; Customer Operations</a:t>
            </a:r>
          </a:p>
        </p:txBody>
      </p:sp>
      <p:pic>
        <p:nvPicPr>
          <p:cNvPr id="7" name="Picture 6">
            <a:extLst>
              <a:ext uri="{FF2B5EF4-FFF2-40B4-BE49-F238E27FC236}">
                <a16:creationId xmlns:a16="http://schemas.microsoft.com/office/drawing/2014/main" id="{5268FB3B-CE68-BC05-DA27-F0F59FE026DB}"/>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46685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C9FB-2452-CDE8-9019-B362DBB3F660}"/>
              </a:ext>
            </a:extLst>
          </p:cNvPr>
          <p:cNvSpPr>
            <a:spLocks noGrp="1"/>
          </p:cNvSpPr>
          <p:nvPr>
            <p:ph type="title"/>
          </p:nvPr>
        </p:nvSpPr>
        <p:spPr>
          <a:xfrm>
            <a:off x="429768" y="411480"/>
            <a:ext cx="11045952" cy="1828800"/>
          </a:xfrm>
        </p:spPr>
        <p:txBody>
          <a:bodyPr anchor="t">
            <a:normAutofit/>
          </a:bodyPr>
          <a:lstStyle/>
          <a:p>
            <a:r>
              <a:rPr lang="en-US"/>
              <a:t>Presentation Agenda</a:t>
            </a:r>
          </a:p>
        </p:txBody>
      </p:sp>
      <p:sp>
        <p:nvSpPr>
          <p:cNvPr id="3" name="Content Placeholder 2">
            <a:extLst>
              <a:ext uri="{FF2B5EF4-FFF2-40B4-BE49-F238E27FC236}">
                <a16:creationId xmlns:a16="http://schemas.microsoft.com/office/drawing/2014/main" id="{FD8CA807-5224-5024-541F-53C42105073F}"/>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272784" y="2423160"/>
            <a:ext cx="5202936" cy="3858768"/>
          </a:xfrm>
        </p:spPr>
        <p:txBody>
          <a:bodyPr>
            <a:normAutofit/>
          </a:bodyPr>
          <a:lstStyle/>
          <a:p>
            <a:pPr>
              <a:buFont typeface="Arial" panose="020B0604020202020204" pitchFamily="34" charset="0"/>
              <a:buChar char="•"/>
            </a:pPr>
            <a:r>
              <a:rPr dirty="0"/>
              <a:t>Context on data analysis</a:t>
            </a:r>
          </a:p>
          <a:p>
            <a:pPr>
              <a:buFont typeface="Arial" panose="020B0604020202020204" pitchFamily="34" charset="0"/>
              <a:buChar char="•"/>
            </a:pPr>
            <a:r>
              <a:rPr dirty="0"/>
              <a:t>Customer Base Overview</a:t>
            </a:r>
          </a:p>
          <a:p>
            <a:pPr>
              <a:buFont typeface="Arial" panose="020B0604020202020204" pitchFamily="34" charset="0"/>
              <a:buChar char="•"/>
            </a:pPr>
            <a:r>
              <a:rPr dirty="0"/>
              <a:t>Film Inventory and Operations</a:t>
            </a:r>
          </a:p>
          <a:p>
            <a:pPr>
              <a:buFont typeface="Arial" panose="020B0604020202020204" pitchFamily="34" charset="0"/>
              <a:buChar char="•"/>
            </a:pPr>
            <a:r>
              <a:rPr dirty="0" err="1"/>
              <a:t>Rockbuster's</a:t>
            </a:r>
            <a:r>
              <a:rPr dirty="0"/>
              <a:t> Global Footprint</a:t>
            </a:r>
          </a:p>
          <a:p>
            <a:pPr>
              <a:buFont typeface="Arial" panose="020B0604020202020204" pitchFamily="34" charset="0"/>
              <a:buChar char="•"/>
            </a:pPr>
            <a:r>
              <a:rPr lang="en-US" dirty="0"/>
              <a:t>Conclusion</a:t>
            </a:r>
          </a:p>
        </p:txBody>
      </p:sp>
      <p:pic>
        <p:nvPicPr>
          <p:cNvPr id="5" name="Picture 4">
            <a:extLst>
              <a:ext uri="{FF2B5EF4-FFF2-40B4-BE49-F238E27FC236}">
                <a16:creationId xmlns:a16="http://schemas.microsoft.com/office/drawing/2014/main" id="{AE9CA326-2D2D-6843-6FBA-562F1C56E184}"/>
              </a:ext>
            </a:extLst>
          </p:cNvPr>
          <p:cNvPicPr>
            <a:picLocks noChangeAspect="1"/>
          </p:cNvPicPr>
          <p:nvPr/>
        </p:nvPicPr>
        <p:blipFill>
          <a:blip r:embed="rId3"/>
          <a:stretch>
            <a:fillRect/>
          </a:stretch>
        </p:blipFill>
        <p:spPr>
          <a:xfrm>
            <a:off x="1399699" y="2141961"/>
            <a:ext cx="3886537" cy="2751058"/>
          </a:xfrm>
          <a:prstGeom prst="rect">
            <a:avLst/>
          </a:prstGeom>
        </p:spPr>
      </p:pic>
    </p:spTree>
    <p:extLst>
      <p:ext uri="{BB962C8B-B14F-4D97-AF65-F5344CB8AC3E}">
        <p14:creationId xmlns:p14="http://schemas.microsoft.com/office/powerpoint/2010/main" val="2218157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EC8C-6E0A-6BCF-1FE5-EC5D2F0D4710}"/>
              </a:ext>
            </a:extLst>
          </p:cNvPr>
          <p:cNvSpPr>
            <a:spLocks noGrp="1"/>
          </p:cNvSpPr>
          <p:nvPr>
            <p:ph type="title"/>
          </p:nvPr>
        </p:nvSpPr>
        <p:spPr/>
        <p:txBody>
          <a:bodyPr>
            <a:noAutofit/>
          </a:bodyPr>
          <a:lstStyle/>
          <a:p>
            <a:pPr algn="ctr"/>
            <a:r>
              <a:rPr lang="en-US" sz="2800" dirty="0"/>
              <a:t>The </a:t>
            </a:r>
            <a:r>
              <a:rPr lang="en-US" sz="2800" dirty="0" err="1"/>
              <a:t>Rockbuster</a:t>
            </a:r>
            <a:r>
              <a:rPr lang="en-US" sz="2800" dirty="0"/>
              <a:t> Blueprint: </a:t>
            </a:r>
            <a:br>
              <a:rPr lang="en-US" sz="2800" dirty="0"/>
            </a:br>
            <a:r>
              <a:rPr lang="en-US" sz="2800" dirty="0"/>
              <a:t>Validating Efficiency and Pinpointing Global Opportunities</a:t>
            </a:r>
            <a:endParaRPr lang="en-US" sz="2800" b="1" dirty="0"/>
          </a:p>
        </p:txBody>
      </p:sp>
      <p:sp>
        <p:nvSpPr>
          <p:cNvPr id="3" name="Content Placeholder 2">
            <a:extLst>
              <a:ext uri="{FF2B5EF4-FFF2-40B4-BE49-F238E27FC236}">
                <a16:creationId xmlns:a16="http://schemas.microsoft.com/office/drawing/2014/main" id="{BF17CDD5-A7AB-4072-40EC-5F6932571B20}"/>
              </a:ext>
            </a:extLst>
          </p:cNvPr>
          <p:cNvSpPr>
            <a:spLocks noGrp="1"/>
          </p:cNvSpPr>
          <p:nvPr>
            <p:ph idx="1"/>
          </p:nvPr>
        </p:nvSpPr>
        <p:spPr>
          <a:xfrm>
            <a:off x="429768" y="1877960"/>
            <a:ext cx="11328844" cy="4403967"/>
          </a:xfrm>
        </p:spPr>
        <p:txBody>
          <a:bodyPr/>
          <a:lstStyle/>
          <a:p>
            <a:r>
              <a:rPr lang="en-US" dirty="0"/>
              <a:t>The foundation of any successful global business is a </a:t>
            </a:r>
            <a:r>
              <a:rPr lang="en-US" b="1" dirty="0"/>
              <a:t>standardized operational model</a:t>
            </a:r>
            <a:r>
              <a:rPr lang="en-US" dirty="0"/>
              <a:t> and a </a:t>
            </a:r>
            <a:r>
              <a:rPr lang="en-US" b="1" dirty="0"/>
              <a:t>clear view of customer value</a:t>
            </a:r>
            <a:r>
              <a:rPr lang="en-US" dirty="0"/>
              <a:t>. We initiated this deep dive to establish a </a:t>
            </a:r>
            <a:r>
              <a:rPr lang="en-US" b="1" dirty="0"/>
              <a:t>baseline operational blueprint</a:t>
            </a:r>
            <a:r>
              <a:rPr lang="en-US" dirty="0"/>
              <a:t> and secure our path to future growth.</a:t>
            </a:r>
          </a:p>
          <a:p>
            <a:endParaRPr lang="en-US" b="1" dirty="0"/>
          </a:p>
          <a:p>
            <a:r>
              <a:rPr lang="en-US" b="1" dirty="0"/>
              <a:t>Validate Core Efficiency:</a:t>
            </a:r>
            <a:r>
              <a:rPr lang="en-US" dirty="0"/>
              <a:t> We must confirm that our pricing, rental duration, and inventory cost structures are </a:t>
            </a:r>
            <a:r>
              <a:rPr lang="en-US" b="1" dirty="0"/>
              <a:t>predictable and standardized</a:t>
            </a:r>
            <a:r>
              <a:rPr lang="en-US" dirty="0"/>
              <a:t> across the entire global enterprise.</a:t>
            </a:r>
          </a:p>
          <a:p>
            <a:endParaRPr lang="en-US" dirty="0"/>
          </a:p>
          <a:p>
            <a:r>
              <a:rPr lang="en-US" b="1" dirty="0"/>
              <a:t>Identify Leveraged Opportunities:</a:t>
            </a:r>
            <a:r>
              <a:rPr lang="en-US" dirty="0"/>
              <a:t> We must pinpoint unexpected market performance, customer anomalies, and areas where immediate management action can </a:t>
            </a:r>
            <a:r>
              <a:rPr lang="en-US" b="1" dirty="0"/>
              <a:t>maximize our return on investment (ROI).</a:t>
            </a:r>
            <a:endParaRPr lang="en-US" dirty="0"/>
          </a:p>
        </p:txBody>
      </p:sp>
      <p:pic>
        <p:nvPicPr>
          <p:cNvPr id="4" name="Picture 3">
            <a:extLst>
              <a:ext uri="{FF2B5EF4-FFF2-40B4-BE49-F238E27FC236}">
                <a16:creationId xmlns:a16="http://schemas.microsoft.com/office/drawing/2014/main" id="{6E7774C0-1D1D-700D-8FD9-687A0D7864C9}"/>
              </a:ext>
            </a:extLst>
          </p:cNvPr>
          <p:cNvPicPr>
            <a:picLocks noChangeAspect="1"/>
          </p:cNvPicPr>
          <p:nvPr/>
        </p:nvPicPr>
        <p:blipFill>
          <a:blip r:embed="rId2"/>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3850199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8875-72D9-6F79-77DC-1F87714CAC64}"/>
              </a:ext>
            </a:extLst>
          </p:cNvPr>
          <p:cNvSpPr>
            <a:spLocks noGrp="1"/>
          </p:cNvSpPr>
          <p:nvPr>
            <p:ph type="title"/>
          </p:nvPr>
        </p:nvSpPr>
        <p:spPr>
          <a:xfrm>
            <a:off x="429768" y="1810512"/>
            <a:ext cx="7772400" cy="4562856"/>
          </a:xfrm>
        </p:spPr>
        <p:txBody>
          <a:bodyPr anchor="b">
            <a:normAutofit/>
          </a:bodyPr>
          <a:lstStyle/>
          <a:p>
            <a:r>
              <a:rPr lang="en-US" b="1" dirty="0"/>
              <a:t>Customer Base Overview</a:t>
            </a:r>
          </a:p>
        </p:txBody>
      </p:sp>
      <p:pic>
        <p:nvPicPr>
          <p:cNvPr id="3" name="Picture 2">
            <a:extLst>
              <a:ext uri="{FF2B5EF4-FFF2-40B4-BE49-F238E27FC236}">
                <a16:creationId xmlns:a16="http://schemas.microsoft.com/office/drawing/2014/main" id="{3C2A11AF-E1DB-DDE0-6949-BE459101C485}"/>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2949584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B8737F41-B7B6-4DEB-91C4-EC10BD09B17A}"/>
              </a:ext>
            </a:extLst>
          </p:cNvPr>
          <p:cNvGraphicFramePr>
            <a:graphicFrameLocks noGrp="1"/>
          </p:cNvGraphicFramePr>
          <p:nvPr>
            <p:ph idx="1"/>
            <p:extLst>
              <p:ext uri="{D42A27DB-BD31-4B8C-83A1-F6EECF244321}">
                <p14:modId xmlns:p14="http://schemas.microsoft.com/office/powerpoint/2010/main" val="366382118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37159" y="329450"/>
          <a:ext cx="11924209" cy="619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8E714269-E334-33D8-1C3D-7C7905E8CC05}"/>
              </a:ext>
            </a:extLst>
          </p:cNvPr>
          <p:cNvSpPr txBox="1"/>
          <p:nvPr/>
        </p:nvSpPr>
        <p:spPr>
          <a:xfrm>
            <a:off x="2251586" y="2937387"/>
            <a:ext cx="9409472" cy="523220"/>
          </a:xfrm>
          <a:prstGeom prst="rect">
            <a:avLst/>
          </a:prstGeom>
          <a:noFill/>
        </p:spPr>
        <p:txBody>
          <a:bodyPr wrap="square" rtlCol="0">
            <a:spAutoFit/>
          </a:bodyPr>
          <a:lstStyle/>
          <a:p>
            <a:pPr defTabSz="622300">
              <a:spcBef>
                <a:spcPct val="0"/>
              </a:spcBef>
              <a:spcAft>
                <a:spcPct val="35000"/>
              </a:spcAft>
            </a:pPr>
            <a:r>
              <a:rPr lang="en-US" sz="1400" dirty="0">
                <a:solidFill>
                  <a:srgbClr val="131313">
                    <a:hueOff val="0"/>
                    <a:satOff val="0"/>
                    <a:lumOff val="0"/>
                    <a:alphaOff val="0"/>
                  </a:srgbClr>
                </a:solidFill>
                <a:latin typeface="Neue Haas Grotesk Text Pro"/>
              </a:rPr>
              <a:t>Mass Acquisition Event: 2006-02-14 (Valentine's Day). The entire customer base was acquired on a single date, suggesting a highly effective, one-time targeted campaign. This provides a clear start-date for all analysis.</a:t>
            </a:r>
          </a:p>
        </p:txBody>
      </p:sp>
      <p:pic>
        <p:nvPicPr>
          <p:cNvPr id="5" name="Picture 4">
            <a:extLst>
              <a:ext uri="{FF2B5EF4-FFF2-40B4-BE49-F238E27FC236}">
                <a16:creationId xmlns:a16="http://schemas.microsoft.com/office/drawing/2014/main" id="{5984588F-BAF6-A93D-6C5E-F12742B7BA0E}"/>
              </a:ext>
            </a:extLst>
          </p:cNvPr>
          <p:cNvPicPr>
            <a:picLocks noChangeAspect="1"/>
          </p:cNvPicPr>
          <p:nvPr/>
        </p:nvPicPr>
        <p:blipFill>
          <a:blip r:embed="rId8"/>
          <a:stretch>
            <a:fillRect/>
          </a:stretch>
        </p:blipFill>
        <p:spPr>
          <a:xfrm>
            <a:off x="10956014" y="5891837"/>
            <a:ext cx="806218" cy="725317"/>
          </a:xfrm>
          <a:prstGeom prst="rect">
            <a:avLst/>
          </a:prstGeom>
        </p:spPr>
      </p:pic>
      <p:pic>
        <p:nvPicPr>
          <p:cNvPr id="3076" name="Picture 4" descr="Targeted Advertising Stock Photos ...">
            <a:extLst>
              <a:ext uri="{FF2B5EF4-FFF2-40B4-BE49-F238E27FC236}">
                <a16:creationId xmlns:a16="http://schemas.microsoft.com/office/drawing/2014/main" id="{7EBFCA50-E485-4F78-4E46-06466575C46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33208"/>
          <a:stretch>
            <a:fillRect/>
          </a:stretch>
        </p:blipFill>
        <p:spPr bwMode="auto">
          <a:xfrm>
            <a:off x="137159" y="2443853"/>
            <a:ext cx="1977598" cy="197029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group of people walking up a stairs&#10;&#10;AI-generated content may be incorrect.">
            <a:extLst>
              <a:ext uri="{FF2B5EF4-FFF2-40B4-BE49-F238E27FC236}">
                <a16:creationId xmlns:a16="http://schemas.microsoft.com/office/drawing/2014/main" id="{B242B853-E956-4EF8-D882-CF2E0D462B50}"/>
              </a:ext>
            </a:extLst>
          </p:cNvPr>
          <p:cNvPicPr>
            <a:picLocks noChangeAspect="1"/>
          </p:cNvPicPr>
          <p:nvPr/>
        </p:nvPicPr>
        <p:blipFill>
          <a:blip r:embed="rId10"/>
          <a:srcRect l="6536" r="14046" b="5682"/>
          <a:stretch>
            <a:fillRect/>
          </a:stretch>
        </p:blipFill>
        <p:spPr>
          <a:xfrm>
            <a:off x="117986" y="4558256"/>
            <a:ext cx="1996771" cy="1970293"/>
          </a:xfrm>
          <a:prstGeom prst="rect">
            <a:avLst/>
          </a:prstGeom>
        </p:spPr>
      </p:pic>
    </p:spTree>
    <p:extLst>
      <p:ext uri="{BB962C8B-B14F-4D97-AF65-F5344CB8AC3E}">
        <p14:creationId xmlns:p14="http://schemas.microsoft.com/office/powerpoint/2010/main" val="124800326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C9260-7A55-D828-CD5A-BCFAA4DFA7F6}"/>
              </a:ext>
            </a:extLst>
          </p:cNvPr>
          <p:cNvSpPr>
            <a:spLocks noGrp="1"/>
          </p:cNvSpPr>
          <p:nvPr>
            <p:ph type="title"/>
          </p:nvPr>
        </p:nvSpPr>
        <p:spPr>
          <a:xfrm>
            <a:off x="429768" y="1810512"/>
            <a:ext cx="7772400" cy="4562856"/>
          </a:xfrm>
        </p:spPr>
        <p:txBody>
          <a:bodyPr anchor="b">
            <a:normAutofit/>
          </a:bodyPr>
          <a:lstStyle/>
          <a:p>
            <a:r>
              <a:rPr lang="en-US" dirty="0"/>
              <a:t>Film Inventory and Operations</a:t>
            </a:r>
          </a:p>
        </p:txBody>
      </p:sp>
      <p:pic>
        <p:nvPicPr>
          <p:cNvPr id="3" name="Picture 2">
            <a:extLst>
              <a:ext uri="{FF2B5EF4-FFF2-40B4-BE49-F238E27FC236}">
                <a16:creationId xmlns:a16="http://schemas.microsoft.com/office/drawing/2014/main" id="{C11DEDBA-5AF2-4C72-697D-145279A9750C}"/>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23056553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86FDA18-24EF-8F9F-25F0-69CD51B26998}"/>
              </a:ext>
            </a:extLst>
          </p:cNvPr>
          <p:cNvSpPr txBox="1"/>
          <p:nvPr/>
        </p:nvSpPr>
        <p:spPr>
          <a:xfrm>
            <a:off x="1243402" y="1170825"/>
            <a:ext cx="10216473"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Standardized Rental Rates:</a:t>
            </a:r>
            <a:r>
              <a:rPr lang="en-US" sz="1400" dirty="0"/>
              <a:t> The average rental price of </a:t>
            </a:r>
            <a:r>
              <a:rPr lang="en-US" sz="1400" b="1" dirty="0"/>
              <a:t>$2.98</a:t>
            </a:r>
            <a:r>
              <a:rPr lang="en-US" sz="1400" dirty="0"/>
              <a:t> aligns with the median, confirming a stable and predictable pricing structure. We should review films priced at the minimum ($0.99) and maximum ($4.99) to assess </a:t>
            </a:r>
            <a:r>
              <a:rPr lang="en-US" sz="1400" b="1" dirty="0"/>
              <a:t>discounting or premium opportunities</a:t>
            </a:r>
            <a:r>
              <a:rPr lang="en-US" sz="1400" dirty="0"/>
              <a:t>.</a:t>
            </a:r>
            <a:endParaRPr lang="en-US" sz="1400" b="1" dirty="0"/>
          </a:p>
          <a:p>
            <a:endParaRPr lang="en-US" sz="1400" b="1" dirty="0"/>
          </a:p>
          <a:p>
            <a:pPr marL="285750" indent="-285750">
              <a:buFont typeface="Arial" panose="020B0604020202020204" pitchFamily="34" charset="0"/>
              <a:buChar char="•"/>
            </a:pPr>
            <a:r>
              <a:rPr lang="en-US" sz="1400" b="1" dirty="0"/>
              <a:t>Standard Rental Duration:</a:t>
            </a:r>
            <a:r>
              <a:rPr lang="en-US" sz="1400" dirty="0"/>
              <a:t> A consistent 5-day rental duration is the operational standard, which is </a:t>
            </a:r>
            <a:r>
              <a:rPr lang="en-US" sz="1400" b="1" dirty="0"/>
              <a:t>critical for predictable inventory turnover</a:t>
            </a:r>
            <a:r>
              <a:rPr lang="en-US" sz="1400" dirty="0"/>
              <a:t> and cash flow forecasting.</a:t>
            </a:r>
            <a:endParaRPr lang="en-US" sz="1400" b="1" dirty="0"/>
          </a:p>
          <a:p>
            <a:endParaRPr lang="en-US" sz="1400" b="1" dirty="0"/>
          </a:p>
          <a:p>
            <a:pPr marL="285750" indent="-285750">
              <a:buFont typeface="Arial" panose="020B0604020202020204" pitchFamily="34" charset="0"/>
              <a:buChar char="•"/>
            </a:pPr>
            <a:r>
              <a:rPr lang="en-US" sz="1400" b="1" dirty="0"/>
              <a:t>Inventory Profile:</a:t>
            </a:r>
            <a:r>
              <a:rPr lang="en-US" sz="1400" dirty="0"/>
              <a:t> The average movie is just under 2 hours, </a:t>
            </a:r>
            <a:r>
              <a:rPr lang="en-US" sz="1400" b="1" dirty="0"/>
              <a:t>PG-13 rated</a:t>
            </a:r>
            <a:r>
              <a:rPr lang="en-US" sz="1400" dirty="0"/>
              <a:t>, and </a:t>
            </a:r>
            <a:r>
              <a:rPr lang="en-US" sz="1400" b="1" dirty="0"/>
              <a:t>English-only</a:t>
            </a:r>
            <a:r>
              <a:rPr lang="en-US" sz="1400" dirty="0"/>
              <a:t>, confirming a heavy focus on the family/teen core market segment.</a:t>
            </a:r>
          </a:p>
          <a:p>
            <a:endParaRPr lang="en-US" sz="1400" dirty="0"/>
          </a:p>
          <a:p>
            <a:pPr marL="285750" indent="-285750">
              <a:buFont typeface="Arial" panose="020B0604020202020204" pitchFamily="34" charset="0"/>
              <a:buChar char="•"/>
            </a:pPr>
            <a:r>
              <a:rPr lang="en-US" sz="1400" b="1" dirty="0"/>
              <a:t>Replacement Cost Benchmark:</a:t>
            </a:r>
            <a:r>
              <a:rPr lang="en-US" sz="1400" dirty="0"/>
              <a:t> The average replacement cost of </a:t>
            </a:r>
            <a:r>
              <a:rPr lang="en-US" sz="1400" b="1" dirty="0"/>
              <a:t>$19.98</a:t>
            </a:r>
            <a:r>
              <a:rPr lang="en-US" sz="1400" dirty="0"/>
              <a:t> is the benchmark figure for setting replacement fees and forecasting future inventory investment.</a:t>
            </a:r>
          </a:p>
        </p:txBody>
      </p:sp>
      <p:pic>
        <p:nvPicPr>
          <p:cNvPr id="12" name="Picture 11">
            <a:extLst>
              <a:ext uri="{FF2B5EF4-FFF2-40B4-BE49-F238E27FC236}">
                <a16:creationId xmlns:a16="http://schemas.microsoft.com/office/drawing/2014/main" id="{3C2B7EEB-7445-7818-B6FB-0C10256B821B}"/>
              </a:ext>
            </a:extLst>
          </p:cNvPr>
          <p:cNvPicPr>
            <a:picLocks noChangeAspect="1"/>
          </p:cNvPicPr>
          <p:nvPr/>
        </p:nvPicPr>
        <p:blipFill>
          <a:blip r:embed="rId2"/>
          <a:stretch>
            <a:fillRect/>
          </a:stretch>
        </p:blipFill>
        <p:spPr>
          <a:xfrm>
            <a:off x="2006395" y="3964889"/>
            <a:ext cx="7924186" cy="1970453"/>
          </a:xfrm>
          <a:prstGeom prst="rect">
            <a:avLst/>
          </a:prstGeom>
        </p:spPr>
      </p:pic>
      <p:pic>
        <p:nvPicPr>
          <p:cNvPr id="13" name="Picture 12">
            <a:extLst>
              <a:ext uri="{FF2B5EF4-FFF2-40B4-BE49-F238E27FC236}">
                <a16:creationId xmlns:a16="http://schemas.microsoft.com/office/drawing/2014/main" id="{A5B54877-919D-68DA-A73A-9BAF042A43A8}"/>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1264992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09C3-FBA2-7F4E-0F66-FFC89FCDD433}"/>
              </a:ext>
            </a:extLst>
          </p:cNvPr>
          <p:cNvSpPr>
            <a:spLocks noGrp="1"/>
          </p:cNvSpPr>
          <p:nvPr>
            <p:ph type="title"/>
          </p:nvPr>
        </p:nvSpPr>
        <p:spPr>
          <a:xfrm>
            <a:off x="429768" y="1810512"/>
            <a:ext cx="7772400" cy="4562856"/>
          </a:xfrm>
        </p:spPr>
        <p:txBody>
          <a:bodyPr anchor="b">
            <a:normAutofit/>
          </a:bodyPr>
          <a:lstStyle/>
          <a:p>
            <a:r>
              <a:rPr lang="en-US" dirty="0" err="1"/>
              <a:t>Rockbuster's</a:t>
            </a:r>
            <a:r>
              <a:rPr lang="en-US" dirty="0"/>
              <a:t> Global Footprint</a:t>
            </a:r>
          </a:p>
        </p:txBody>
      </p:sp>
      <p:pic>
        <p:nvPicPr>
          <p:cNvPr id="3" name="Picture 2">
            <a:extLst>
              <a:ext uri="{FF2B5EF4-FFF2-40B4-BE49-F238E27FC236}">
                <a16:creationId xmlns:a16="http://schemas.microsoft.com/office/drawing/2014/main" id="{8B1E6A60-0FDB-C13B-8251-26A7F48E354E}"/>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3439475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CAD40-0736-A0FA-EFA2-002851E95CB3}"/>
              </a:ext>
            </a:extLst>
          </p:cNvPr>
          <p:cNvSpPr>
            <a:spLocks noGrp="1"/>
          </p:cNvSpPr>
          <p:nvPr>
            <p:ph type="title"/>
          </p:nvPr>
        </p:nvSpPr>
        <p:spPr>
          <a:xfrm>
            <a:off x="8321040" y="603504"/>
            <a:ext cx="3401568" cy="763180"/>
          </a:xfrm>
        </p:spPr>
        <p:txBody>
          <a:bodyPr>
            <a:normAutofit fontScale="90000"/>
          </a:bodyPr>
          <a:lstStyle/>
          <a:p>
            <a:r>
              <a:rPr lang="en-US" dirty="0"/>
              <a:t>Global Market Penetration</a:t>
            </a:r>
          </a:p>
        </p:txBody>
      </p:sp>
      <p:sp>
        <p:nvSpPr>
          <p:cNvPr id="4" name="Content Placeholder 3">
            <a:extLst>
              <a:ext uri="{FF2B5EF4-FFF2-40B4-BE49-F238E27FC236}">
                <a16:creationId xmlns:a16="http://schemas.microsoft.com/office/drawing/2014/main" id="{C7AF6D5A-B22D-6C85-4390-51A2248EB059}"/>
              </a:ext>
            </a:extLst>
          </p:cNvPr>
          <p:cNvSpPr>
            <a:spLocks noGrp="1"/>
          </p:cNvSpPr>
          <p:nvPr>
            <p:ph sz="quarter" idx="14"/>
          </p:nvPr>
        </p:nvSpPr>
        <p:spPr>
          <a:xfrm>
            <a:off x="8321040" y="1647824"/>
            <a:ext cx="3401568" cy="4257725"/>
          </a:xfrm>
        </p:spPr>
        <p:txBody>
          <a:bodyPr>
            <a:normAutofit fontScale="55000" lnSpcReduction="20000"/>
          </a:bodyPr>
          <a:lstStyle/>
          <a:p>
            <a:pPr marL="0" indent="0">
              <a:buNone/>
            </a:pPr>
            <a:r>
              <a:rPr lang="en-US" b="1" dirty="0"/>
              <a:t>Focus:</a:t>
            </a:r>
            <a:r>
              <a:rPr lang="en-US" dirty="0"/>
              <a:t> Tiered structure and the anomaly of missing major markets.</a:t>
            </a:r>
          </a:p>
          <a:p>
            <a:r>
              <a:rPr lang="en-US" b="1" dirty="0"/>
              <a:t>Tier 1 (High Potential):</a:t>
            </a:r>
            <a:r>
              <a:rPr lang="en-US" dirty="0"/>
              <a:t> India, China. These markets are our volume leaders, with a combined customer base that significantly outpaces the next tier. They are key to volume growth.</a:t>
            </a:r>
          </a:p>
          <a:p>
            <a:r>
              <a:rPr lang="en-US" b="1" dirty="0"/>
              <a:t>Tier 2 (Solid Presence):</a:t>
            </a:r>
            <a:r>
              <a:rPr lang="en-US" dirty="0"/>
              <a:t> United States, Japan, Mexico. These countries provide a strong, stable presence that should be the focus of near-term stabilization and moderate growth efforts.</a:t>
            </a:r>
          </a:p>
          <a:p>
            <a:r>
              <a:rPr lang="en-US" b="1" dirty="0"/>
              <a:t>Tier 3 (Emerging/Niche):</a:t>
            </a:r>
            <a:r>
              <a:rPr lang="en-US" dirty="0"/>
              <a:t> Brazil, Russian Federation, Philippines, Turkey, Indonesia.</a:t>
            </a:r>
          </a:p>
          <a:p>
            <a:pPr marL="0" indent="0">
              <a:buNone/>
            </a:pPr>
            <a:r>
              <a:rPr lang="en-US" b="1" dirty="0"/>
              <a:t>Global Reach:</a:t>
            </a:r>
            <a:r>
              <a:rPr lang="en-US" dirty="0"/>
              <a:t> </a:t>
            </a:r>
            <a:r>
              <a:rPr lang="en-US" dirty="0" err="1"/>
              <a:t>Rockbuster</a:t>
            </a:r>
            <a:r>
              <a:rPr lang="en-US" dirty="0"/>
              <a:t> has a surprisingly diverse global customer base, reaching across four continents (Asia, North America, South America, Europe).</a:t>
            </a:r>
          </a:p>
          <a:p>
            <a:pPr marL="0" indent="0">
              <a:buNone/>
            </a:pPr>
            <a:r>
              <a:rPr lang="en-US" b="1" dirty="0"/>
              <a:t>Absence of Major European Markets:</a:t>
            </a:r>
            <a:r>
              <a:rPr lang="en-US" dirty="0"/>
              <a:t> The complete absence of major European economies (UK, Germany, France) in the Top 10 is a </a:t>
            </a:r>
            <a:r>
              <a:rPr lang="en-US" b="1" dirty="0"/>
              <a:t>critical market gap</a:t>
            </a:r>
            <a:r>
              <a:rPr lang="en-US" dirty="0"/>
              <a:t> and suggests a significant untapped global opportunity.</a:t>
            </a:r>
          </a:p>
        </p:txBody>
      </p:sp>
      <p:pic>
        <p:nvPicPr>
          <p:cNvPr id="9" name="Picture 8">
            <a:extLst>
              <a:ext uri="{FF2B5EF4-FFF2-40B4-BE49-F238E27FC236}">
                <a16:creationId xmlns:a16="http://schemas.microsoft.com/office/drawing/2014/main" id="{97778287-6B37-22F8-830E-51628E79A4D2}"/>
              </a:ext>
            </a:extLst>
          </p:cNvPr>
          <p:cNvPicPr>
            <a:picLocks noChangeAspect="1"/>
          </p:cNvPicPr>
          <p:nvPr/>
        </p:nvPicPr>
        <p:blipFill>
          <a:blip r:embed="rId2"/>
          <a:stretch>
            <a:fillRect/>
          </a:stretch>
        </p:blipFill>
        <p:spPr>
          <a:xfrm>
            <a:off x="10956014" y="5891837"/>
            <a:ext cx="806218" cy="725317"/>
          </a:xfrm>
          <a:prstGeom prst="rect">
            <a:avLst/>
          </a:prstGeom>
        </p:spPr>
      </p:pic>
      <p:pic>
        <p:nvPicPr>
          <p:cNvPr id="17" name="Picture 16">
            <a:extLst>
              <a:ext uri="{FF2B5EF4-FFF2-40B4-BE49-F238E27FC236}">
                <a16:creationId xmlns:a16="http://schemas.microsoft.com/office/drawing/2014/main" id="{54AA0EBD-B930-677F-46B5-27080742A992}"/>
              </a:ext>
            </a:extLst>
          </p:cNvPr>
          <p:cNvPicPr>
            <a:picLocks noChangeAspect="1"/>
          </p:cNvPicPr>
          <p:nvPr/>
        </p:nvPicPr>
        <p:blipFill>
          <a:blip r:embed="rId3"/>
          <a:stretch>
            <a:fillRect/>
          </a:stretch>
        </p:blipFill>
        <p:spPr>
          <a:xfrm>
            <a:off x="643563" y="1064401"/>
            <a:ext cx="7194178" cy="4513994"/>
          </a:xfrm>
          <a:prstGeom prst="rect">
            <a:avLst/>
          </a:prstGeom>
        </p:spPr>
      </p:pic>
      <p:pic>
        <p:nvPicPr>
          <p:cNvPr id="19" name="Picture 18">
            <a:extLst>
              <a:ext uri="{FF2B5EF4-FFF2-40B4-BE49-F238E27FC236}">
                <a16:creationId xmlns:a16="http://schemas.microsoft.com/office/drawing/2014/main" id="{4A6DBA01-1C20-4CD1-AB25-4F73BD87B2EB}"/>
              </a:ext>
            </a:extLst>
          </p:cNvPr>
          <p:cNvPicPr>
            <a:picLocks noChangeAspect="1"/>
          </p:cNvPicPr>
          <p:nvPr/>
        </p:nvPicPr>
        <p:blipFill>
          <a:blip r:embed="rId4"/>
          <a:stretch>
            <a:fillRect/>
          </a:stretch>
        </p:blipFill>
        <p:spPr>
          <a:xfrm>
            <a:off x="603939" y="3927175"/>
            <a:ext cx="1150720" cy="1684166"/>
          </a:xfrm>
          <a:prstGeom prst="rect">
            <a:avLst/>
          </a:prstGeom>
        </p:spPr>
      </p:pic>
    </p:spTree>
    <p:extLst>
      <p:ext uri="{BB962C8B-B14F-4D97-AF65-F5344CB8AC3E}">
        <p14:creationId xmlns:p14="http://schemas.microsoft.com/office/powerpoint/2010/main" val="800878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65C7-BA00-0573-529D-DBD72DC7FA87}"/>
              </a:ext>
            </a:extLst>
          </p:cNvPr>
          <p:cNvSpPr>
            <a:spLocks noGrp="1"/>
          </p:cNvSpPr>
          <p:nvPr>
            <p:ph type="title"/>
          </p:nvPr>
        </p:nvSpPr>
        <p:spPr>
          <a:xfrm>
            <a:off x="429768" y="1046986"/>
            <a:ext cx="3595634" cy="1058874"/>
          </a:xfrm>
        </p:spPr>
        <p:txBody>
          <a:bodyPr vert="horz" lIns="91440" tIns="45720" rIns="91440" bIns="45720" rtlCol="0" anchor="t">
            <a:noAutofit/>
          </a:bodyPr>
          <a:lstStyle/>
          <a:p>
            <a:r>
              <a:rPr lang="en-US" sz="2400" dirty="0"/>
              <a:t>Low Concentration and Scattered Customer Penetration</a:t>
            </a:r>
            <a:endParaRPr lang="en-US" sz="2400" b="0" kern="1200" dirty="0">
              <a:latin typeface="+mj-lt"/>
              <a:ea typeface="+mj-ea"/>
              <a:cs typeface="+mj-cs"/>
            </a:endParaRPr>
          </a:p>
        </p:txBody>
      </p:sp>
      <p:sp>
        <p:nvSpPr>
          <p:cNvPr id="9" name="TextBox 8">
            <a:extLst>
              <a:ext uri="{FF2B5EF4-FFF2-40B4-BE49-F238E27FC236}">
                <a16:creationId xmlns:a16="http://schemas.microsoft.com/office/drawing/2014/main" id="{35EF3BC9-874E-252B-827C-A9C3928199E1}"/>
              </a:ext>
            </a:extLst>
          </p:cNvPr>
          <p:cNvSpPr txBox="1"/>
          <p:nvPr/>
        </p:nvSpPr>
        <p:spPr>
          <a:xfrm>
            <a:off x="429768" y="2470002"/>
            <a:ext cx="4142232" cy="3231654"/>
          </a:xfrm>
          <a:prstGeom prst="rect">
            <a:avLst/>
          </a:prstGeom>
          <a:noFill/>
        </p:spPr>
        <p:txBody>
          <a:bodyPr wrap="square" rtlCol="0">
            <a:spAutoFit/>
          </a:bodyPr>
          <a:lstStyle/>
          <a:p>
            <a:r>
              <a:rPr lang="en-US" sz="1200" b="1" dirty="0"/>
              <a:t>Alarming Anomaly: Scattered Penetration.</a:t>
            </a:r>
            <a:r>
              <a:rPr lang="en-US" sz="1200" dirty="0"/>
              <a:t> The most striking finding is the </a:t>
            </a:r>
            <a:r>
              <a:rPr lang="en-US" sz="1200" b="1" dirty="0"/>
              <a:t>severe lack of customer concentration</a:t>
            </a:r>
            <a:r>
              <a:rPr lang="en-US" sz="1200" dirty="0"/>
              <a:t>—the top 10 cities within our top 10 countries each have a maximum of </a:t>
            </a:r>
            <a:r>
              <a:rPr lang="en-US" sz="1200" b="1" dirty="0"/>
              <a:t>only 1 or 2 customers.</a:t>
            </a:r>
          </a:p>
          <a:p>
            <a:endParaRPr lang="en-US" sz="1200" b="1" dirty="0"/>
          </a:p>
          <a:p>
            <a:r>
              <a:rPr lang="en-US" sz="1200" b="1" dirty="0"/>
              <a:t>Key Takeaway:</a:t>
            </a:r>
            <a:r>
              <a:rPr lang="en-US" sz="1200" dirty="0"/>
              <a:t> While we are geographically diverse, we </a:t>
            </a:r>
            <a:r>
              <a:rPr lang="en-US" sz="1200" b="1" dirty="0"/>
              <a:t>lack the deep, profitable customer clusters</a:t>
            </a:r>
            <a:r>
              <a:rPr lang="en-US" sz="1200" dirty="0"/>
              <a:t> necessary for efficient local marketing and logistics. Our penetration is wide but extremely shallow.</a:t>
            </a:r>
          </a:p>
          <a:p>
            <a:endParaRPr lang="en-US" sz="1200" dirty="0"/>
          </a:p>
          <a:p>
            <a:r>
              <a:rPr lang="en-US" sz="1200" b="1" dirty="0"/>
              <a:t>Actionable Insight:</a:t>
            </a:r>
            <a:r>
              <a:rPr lang="en-US" sz="1200" dirty="0"/>
              <a:t> The query for "Top 10 Cities" may be too restrictive. However, this finding strongly suggests a </a:t>
            </a:r>
            <a:r>
              <a:rPr lang="en-US" sz="1200" b="1" dirty="0"/>
              <a:t>potential data capture/query limitation</a:t>
            </a:r>
            <a:r>
              <a:rPr lang="en-US" sz="1200" dirty="0"/>
              <a:t> or a </a:t>
            </a:r>
            <a:r>
              <a:rPr lang="en-US" sz="1200" b="1" dirty="0"/>
              <a:t>high operational inefficiency</a:t>
            </a:r>
            <a:r>
              <a:rPr lang="en-US" sz="1200" dirty="0"/>
              <a:t> due to a severely fragmented customer base. We must resolve this data clarity issue immediately.</a:t>
            </a:r>
          </a:p>
        </p:txBody>
      </p:sp>
      <p:pic>
        <p:nvPicPr>
          <p:cNvPr id="13" name="Picture 12">
            <a:extLst>
              <a:ext uri="{FF2B5EF4-FFF2-40B4-BE49-F238E27FC236}">
                <a16:creationId xmlns:a16="http://schemas.microsoft.com/office/drawing/2014/main" id="{C4289633-5023-C5DF-088B-A2BE62BC3BAD}"/>
              </a:ext>
            </a:extLst>
          </p:cNvPr>
          <p:cNvPicPr>
            <a:picLocks noChangeAspect="1"/>
          </p:cNvPicPr>
          <p:nvPr/>
        </p:nvPicPr>
        <p:blipFill>
          <a:blip r:embed="rId3"/>
          <a:stretch>
            <a:fillRect/>
          </a:stretch>
        </p:blipFill>
        <p:spPr>
          <a:xfrm>
            <a:off x="10956014" y="5891837"/>
            <a:ext cx="806218" cy="725317"/>
          </a:xfrm>
          <a:prstGeom prst="rect">
            <a:avLst/>
          </a:prstGeom>
        </p:spPr>
      </p:pic>
      <p:pic>
        <p:nvPicPr>
          <p:cNvPr id="17" name="Picture 16">
            <a:extLst>
              <a:ext uri="{FF2B5EF4-FFF2-40B4-BE49-F238E27FC236}">
                <a16:creationId xmlns:a16="http://schemas.microsoft.com/office/drawing/2014/main" id="{040CA72B-BD7E-262A-695A-5CC9A1690F31}"/>
              </a:ext>
            </a:extLst>
          </p:cNvPr>
          <p:cNvPicPr>
            <a:picLocks noChangeAspect="1"/>
          </p:cNvPicPr>
          <p:nvPr/>
        </p:nvPicPr>
        <p:blipFill>
          <a:blip r:embed="rId4"/>
          <a:stretch>
            <a:fillRect/>
          </a:stretch>
        </p:blipFill>
        <p:spPr>
          <a:xfrm>
            <a:off x="4756354" y="1271624"/>
            <a:ext cx="6820491" cy="4153260"/>
          </a:xfrm>
          <a:prstGeom prst="rect">
            <a:avLst/>
          </a:prstGeom>
        </p:spPr>
      </p:pic>
    </p:spTree>
    <p:extLst>
      <p:ext uri="{BB962C8B-B14F-4D97-AF65-F5344CB8AC3E}">
        <p14:creationId xmlns:p14="http://schemas.microsoft.com/office/powerpoint/2010/main" val="151947176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BA28-8A69-416F-07ED-280A079CDC76}"/>
              </a:ext>
            </a:extLst>
          </p:cNvPr>
          <p:cNvSpPr>
            <a:spLocks noGrp="1"/>
          </p:cNvSpPr>
          <p:nvPr>
            <p:ph type="title"/>
          </p:nvPr>
        </p:nvSpPr>
        <p:spPr>
          <a:xfrm>
            <a:off x="429767" y="548639"/>
            <a:ext cx="9683061" cy="1453896"/>
          </a:xfrm>
        </p:spPr>
        <p:txBody>
          <a:bodyPr vert="horz" lIns="91440" tIns="45720" rIns="91440" bIns="45720" rtlCol="0" anchor="t">
            <a:normAutofit/>
          </a:bodyPr>
          <a:lstStyle/>
          <a:p>
            <a:r>
              <a:rPr lang="en-US" dirty="0"/>
              <a:t>High-Value Customer Pockets</a:t>
            </a:r>
            <a:endParaRPr lang="en-US" b="0" kern="1200" dirty="0">
              <a:latin typeface="+mj-lt"/>
              <a:ea typeface="+mj-ea"/>
              <a:cs typeface="+mj-cs"/>
            </a:endParaRPr>
          </a:p>
        </p:txBody>
      </p:sp>
      <p:sp>
        <p:nvSpPr>
          <p:cNvPr id="5" name="TextBox 4">
            <a:extLst>
              <a:ext uri="{FF2B5EF4-FFF2-40B4-BE49-F238E27FC236}">
                <a16:creationId xmlns:a16="http://schemas.microsoft.com/office/drawing/2014/main" id="{7D384763-A52E-452E-B8FD-3E2E18C766E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3766" y="1311712"/>
            <a:ext cx="11344468" cy="3543754"/>
          </a:xfrm>
          <a:prstGeom prst="rect">
            <a:avLst/>
          </a:prstGeom>
        </p:spPr>
        <p:txBody>
          <a:bodyPr>
            <a:normAutofit/>
          </a:bodyPr>
          <a:lstStyle/>
          <a:p>
            <a:r>
              <a:rPr lang="en-US" b="1" dirty="0"/>
              <a:t>High-Value Pockets: Mexico.</a:t>
            </a:r>
            <a:r>
              <a:rPr lang="en-US" dirty="0"/>
              <a:t> Ranked 5th by volume (30 customers) but is disproportionately represented in the Top 5 revenue-generating accounts. This confirms Mexico is a </a:t>
            </a:r>
            <a:r>
              <a:rPr lang="en-US" b="1" dirty="0"/>
              <a:t>high-value market</a:t>
            </a:r>
            <a:r>
              <a:rPr lang="en-US" dirty="0"/>
              <a:t> where we should focus upsell and retention efforts, regardless of overall volume.</a:t>
            </a:r>
          </a:p>
          <a:p>
            <a:endParaRPr lang="en-US" dirty="0"/>
          </a:p>
          <a:p>
            <a:r>
              <a:rPr lang="en-US" b="1" dirty="0"/>
              <a:t>The Volume-Revenue Disconnect</a:t>
            </a:r>
            <a:r>
              <a:rPr lang="en-US" dirty="0"/>
              <a:t>: India (1st in volume) and China (2nd in volume) are significantly underperforming in revenue per customer. This suggests most of their customers are low-value/low-frequency renters. Our volume leaders are not our profit leaders.</a:t>
            </a:r>
          </a:p>
          <a:p>
            <a:endParaRPr lang="en-US" dirty="0"/>
          </a:p>
          <a:p>
            <a:r>
              <a:rPr lang="en-US" b="1" dirty="0"/>
              <a:t>Actionable Target: </a:t>
            </a:r>
            <a:r>
              <a:rPr lang="en-US" dirty="0"/>
              <a:t>The highest-spending customers (&gt; $100) are the most critical to the business. We must isolate their traits and behaviors to develop </a:t>
            </a:r>
            <a:r>
              <a:rPr lang="en-US" b="1" dirty="0"/>
              <a:t>targeted retention and upselling campaigns.</a:t>
            </a:r>
            <a:endParaRPr lang="en-US" dirty="0"/>
          </a:p>
        </p:txBody>
      </p:sp>
      <p:pic>
        <p:nvPicPr>
          <p:cNvPr id="3" name="Picture 2">
            <a:extLst>
              <a:ext uri="{FF2B5EF4-FFF2-40B4-BE49-F238E27FC236}">
                <a16:creationId xmlns:a16="http://schemas.microsoft.com/office/drawing/2014/main" id="{C51B2F65-745E-9A32-E185-131B601CC580}"/>
              </a:ext>
            </a:extLst>
          </p:cNvPr>
          <p:cNvPicPr>
            <a:picLocks noChangeAspect="1"/>
          </p:cNvPicPr>
          <p:nvPr/>
        </p:nvPicPr>
        <p:blipFill>
          <a:blip r:embed="rId3"/>
          <a:stretch>
            <a:fillRect/>
          </a:stretch>
        </p:blipFill>
        <p:spPr>
          <a:xfrm>
            <a:off x="10956014" y="5891837"/>
            <a:ext cx="806218" cy="725317"/>
          </a:xfrm>
          <a:prstGeom prst="rect">
            <a:avLst/>
          </a:prstGeom>
        </p:spPr>
      </p:pic>
      <p:pic>
        <p:nvPicPr>
          <p:cNvPr id="9" name="Picture 8">
            <a:extLst>
              <a:ext uri="{FF2B5EF4-FFF2-40B4-BE49-F238E27FC236}">
                <a16:creationId xmlns:a16="http://schemas.microsoft.com/office/drawing/2014/main" id="{A0F0F73B-DFEF-52C2-55A9-56D55384DD66}"/>
              </a:ext>
            </a:extLst>
          </p:cNvPr>
          <p:cNvPicPr>
            <a:picLocks noChangeAspect="1"/>
          </p:cNvPicPr>
          <p:nvPr/>
        </p:nvPicPr>
        <p:blipFill>
          <a:blip r:embed="rId4"/>
          <a:stretch>
            <a:fillRect/>
          </a:stretch>
        </p:blipFill>
        <p:spPr>
          <a:xfrm>
            <a:off x="423766" y="4499287"/>
            <a:ext cx="10037405" cy="1653683"/>
          </a:xfrm>
          <a:prstGeom prst="rect">
            <a:avLst/>
          </a:prstGeom>
        </p:spPr>
      </p:pic>
    </p:spTree>
    <p:extLst>
      <p:ext uri="{BB962C8B-B14F-4D97-AF65-F5344CB8AC3E}">
        <p14:creationId xmlns:p14="http://schemas.microsoft.com/office/powerpoint/2010/main" val="30132049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96B6-776A-FDD3-262E-36A519F9EC91}"/>
              </a:ext>
            </a:extLst>
          </p:cNvPr>
          <p:cNvSpPr>
            <a:spLocks noGrp="1"/>
          </p:cNvSpPr>
          <p:nvPr>
            <p:ph type="title"/>
          </p:nvPr>
        </p:nvSpPr>
        <p:spPr>
          <a:xfrm>
            <a:off x="705071" y="89791"/>
            <a:ext cx="7370064" cy="1842020"/>
          </a:xfrm>
        </p:spPr>
        <p:txBody>
          <a:bodyPr anchor="b">
            <a:normAutofit/>
          </a:bodyPr>
          <a:lstStyle/>
          <a:p>
            <a:r>
              <a:rPr lang="en-US" dirty="0"/>
              <a:t>Conclusion</a:t>
            </a:r>
          </a:p>
        </p:txBody>
      </p:sp>
      <p:sp>
        <p:nvSpPr>
          <p:cNvPr id="9" name="TextBox 8">
            <a:extLst>
              <a:ext uri="{FF2B5EF4-FFF2-40B4-BE49-F238E27FC236}">
                <a16:creationId xmlns:a16="http://schemas.microsoft.com/office/drawing/2014/main" id="{B8C8BD8F-5894-B55F-F599-6E87876FF707}"/>
              </a:ext>
            </a:extLst>
          </p:cNvPr>
          <p:cNvSpPr txBox="1"/>
          <p:nvPr/>
        </p:nvSpPr>
        <p:spPr>
          <a:xfrm>
            <a:off x="530942" y="2241755"/>
            <a:ext cx="2340077" cy="3108543"/>
          </a:xfrm>
          <a:prstGeom prst="rect">
            <a:avLst/>
          </a:prstGeom>
          <a:noFill/>
        </p:spPr>
        <p:txBody>
          <a:bodyPr wrap="square" rtlCol="0">
            <a:spAutoFit/>
          </a:bodyPr>
          <a:lstStyle/>
          <a:p>
            <a:r>
              <a:rPr lang="en-US" sz="1400" dirty="0"/>
              <a:t>Operational Blueprint</a:t>
            </a:r>
          </a:p>
          <a:p>
            <a:endParaRPr lang="en-US" sz="1400" dirty="0"/>
          </a:p>
          <a:p>
            <a:r>
              <a:rPr lang="en-US" sz="1400" dirty="0"/>
              <a:t>Insights: </a:t>
            </a:r>
          </a:p>
          <a:p>
            <a:r>
              <a:rPr lang="en-US" sz="1400" dirty="0"/>
              <a:t>We have a </a:t>
            </a:r>
            <a:r>
              <a:rPr lang="en-US" sz="1400" b="1" dirty="0"/>
              <a:t>standardized and predictable operational base</a:t>
            </a:r>
            <a:r>
              <a:rPr lang="en-US" sz="1400" dirty="0"/>
              <a:t> (5-day duration, $2.98 avg. rental, PG-13 inventory).</a:t>
            </a:r>
          </a:p>
          <a:p>
            <a:endParaRPr lang="en-US" sz="1400" b="1" dirty="0"/>
          </a:p>
          <a:p>
            <a:r>
              <a:rPr lang="en-US" sz="1400" dirty="0"/>
              <a:t>Recommendations: </a:t>
            </a:r>
            <a:r>
              <a:rPr lang="en-US" sz="1400" b="1" dirty="0"/>
              <a:t>Leverage the standardization</a:t>
            </a:r>
            <a:r>
              <a:rPr lang="en-US" sz="1400" dirty="0"/>
              <a:t> to optimize logistics and marketing globally.</a:t>
            </a:r>
          </a:p>
        </p:txBody>
      </p:sp>
      <p:sp>
        <p:nvSpPr>
          <p:cNvPr id="10" name="TextBox 9">
            <a:extLst>
              <a:ext uri="{FF2B5EF4-FFF2-40B4-BE49-F238E27FC236}">
                <a16:creationId xmlns:a16="http://schemas.microsoft.com/office/drawing/2014/main" id="{F5D8003D-6E32-CB56-3124-C3B535855259}"/>
              </a:ext>
            </a:extLst>
          </p:cNvPr>
          <p:cNvSpPr txBox="1"/>
          <p:nvPr/>
        </p:nvSpPr>
        <p:spPr>
          <a:xfrm>
            <a:off x="3220064" y="2241755"/>
            <a:ext cx="2340077" cy="3108543"/>
          </a:xfrm>
          <a:prstGeom prst="rect">
            <a:avLst/>
          </a:prstGeom>
          <a:noFill/>
        </p:spPr>
        <p:txBody>
          <a:bodyPr wrap="square" rtlCol="0">
            <a:spAutoFit/>
          </a:bodyPr>
          <a:lstStyle/>
          <a:p>
            <a:r>
              <a:rPr lang="en-US" sz="1400" dirty="0"/>
              <a:t>Customer Base</a:t>
            </a:r>
          </a:p>
          <a:p>
            <a:endParaRPr lang="en-US" sz="1400" dirty="0"/>
          </a:p>
          <a:p>
            <a:r>
              <a:rPr lang="en-US" sz="1400" dirty="0"/>
              <a:t>Insights:</a:t>
            </a:r>
          </a:p>
          <a:p>
            <a:r>
              <a:rPr lang="en-US" sz="1400" dirty="0"/>
              <a:t>The current customer base is the result of a </a:t>
            </a:r>
            <a:r>
              <a:rPr lang="en-US" sz="1400" b="1" dirty="0"/>
              <a:t>single, effective mass-acquisition event focused on Store 1.</a:t>
            </a:r>
          </a:p>
          <a:p>
            <a:endParaRPr lang="en-US" sz="1400" b="1" dirty="0"/>
          </a:p>
          <a:p>
            <a:r>
              <a:rPr lang="en-US" sz="1400" dirty="0"/>
              <a:t>Recommendations:</a:t>
            </a:r>
          </a:p>
          <a:p>
            <a:r>
              <a:rPr lang="en-US" sz="1400" b="1" dirty="0"/>
              <a:t>Investigate Store 1's success</a:t>
            </a:r>
            <a:r>
              <a:rPr lang="en-US" sz="1400" dirty="0"/>
              <a:t> to create a replicable acquisition playbook for other stores.</a:t>
            </a:r>
          </a:p>
        </p:txBody>
      </p:sp>
      <p:sp>
        <p:nvSpPr>
          <p:cNvPr id="11" name="TextBox 10">
            <a:extLst>
              <a:ext uri="{FF2B5EF4-FFF2-40B4-BE49-F238E27FC236}">
                <a16:creationId xmlns:a16="http://schemas.microsoft.com/office/drawing/2014/main" id="{7296B600-0B95-1CB4-DD42-E0324F594D90}"/>
              </a:ext>
            </a:extLst>
          </p:cNvPr>
          <p:cNvSpPr txBox="1"/>
          <p:nvPr/>
        </p:nvSpPr>
        <p:spPr>
          <a:xfrm>
            <a:off x="5894439" y="2235610"/>
            <a:ext cx="2340077" cy="3323987"/>
          </a:xfrm>
          <a:prstGeom prst="rect">
            <a:avLst/>
          </a:prstGeom>
          <a:noFill/>
        </p:spPr>
        <p:txBody>
          <a:bodyPr wrap="square" rtlCol="0">
            <a:spAutoFit/>
          </a:bodyPr>
          <a:lstStyle/>
          <a:p>
            <a:r>
              <a:rPr lang="en-US" sz="1400" dirty="0"/>
              <a:t>Global Markets</a:t>
            </a:r>
          </a:p>
          <a:p>
            <a:endParaRPr lang="en-US" sz="1400" dirty="0"/>
          </a:p>
          <a:p>
            <a:r>
              <a:rPr lang="en-US" sz="1400" dirty="0"/>
              <a:t>Insights:</a:t>
            </a:r>
          </a:p>
          <a:p>
            <a:r>
              <a:rPr lang="en-US" sz="1400" dirty="0"/>
              <a:t>We have </a:t>
            </a:r>
            <a:r>
              <a:rPr lang="en-US" sz="1400" b="1" dirty="0"/>
              <a:t>shallow penetration</a:t>
            </a:r>
            <a:r>
              <a:rPr lang="en-US" sz="1400" dirty="0"/>
              <a:t> across many countries and a </a:t>
            </a:r>
            <a:r>
              <a:rPr lang="en-US" sz="1400" b="1" dirty="0"/>
              <a:t>critical absence in major European economies.</a:t>
            </a:r>
          </a:p>
          <a:p>
            <a:endParaRPr lang="en-US" sz="1400" b="1" dirty="0"/>
          </a:p>
          <a:p>
            <a:r>
              <a:rPr lang="en-US" sz="1400" dirty="0"/>
              <a:t>Recommendations:</a:t>
            </a:r>
          </a:p>
          <a:p>
            <a:r>
              <a:rPr lang="en-US" sz="1400" b="1" dirty="0"/>
              <a:t>Target European expansion</a:t>
            </a:r>
            <a:r>
              <a:rPr lang="en-US" sz="1400" dirty="0"/>
              <a:t> and shift focus in volume-leading markets (India/China) from </a:t>
            </a:r>
            <a:r>
              <a:rPr lang="en-US" sz="1400" b="1" dirty="0"/>
              <a:t>volume to value.</a:t>
            </a:r>
            <a:endParaRPr lang="en-US" sz="1400" dirty="0"/>
          </a:p>
        </p:txBody>
      </p:sp>
      <p:sp>
        <p:nvSpPr>
          <p:cNvPr id="12" name="TextBox 11">
            <a:extLst>
              <a:ext uri="{FF2B5EF4-FFF2-40B4-BE49-F238E27FC236}">
                <a16:creationId xmlns:a16="http://schemas.microsoft.com/office/drawing/2014/main" id="{C8B64EF7-A903-775C-3066-C89749523938}"/>
              </a:ext>
            </a:extLst>
          </p:cNvPr>
          <p:cNvSpPr txBox="1"/>
          <p:nvPr/>
        </p:nvSpPr>
        <p:spPr>
          <a:xfrm>
            <a:off x="8657304" y="2241755"/>
            <a:ext cx="2433484" cy="3539430"/>
          </a:xfrm>
          <a:prstGeom prst="rect">
            <a:avLst/>
          </a:prstGeom>
          <a:noFill/>
        </p:spPr>
        <p:txBody>
          <a:bodyPr wrap="square" rtlCol="0">
            <a:spAutoFit/>
          </a:bodyPr>
          <a:lstStyle/>
          <a:p>
            <a:r>
              <a:rPr lang="en-US" sz="1400" dirty="0"/>
              <a:t>Profitability</a:t>
            </a:r>
          </a:p>
          <a:p>
            <a:endParaRPr lang="en-US" sz="1400" dirty="0"/>
          </a:p>
          <a:p>
            <a:r>
              <a:rPr lang="en-US" sz="1400" dirty="0"/>
              <a:t>Insights:</a:t>
            </a:r>
          </a:p>
          <a:p>
            <a:r>
              <a:rPr lang="en-US" sz="1400" dirty="0"/>
              <a:t>There is a </a:t>
            </a:r>
            <a:r>
              <a:rPr lang="en-US" sz="1400" b="1" dirty="0"/>
              <a:t>severe disconnect between customer volume and revenue/profitability</a:t>
            </a:r>
            <a:r>
              <a:rPr lang="en-US" sz="1400" dirty="0"/>
              <a:t> (Mexico vs. India/China).</a:t>
            </a:r>
          </a:p>
          <a:p>
            <a:endParaRPr lang="en-US" sz="1400" dirty="0"/>
          </a:p>
          <a:p>
            <a:r>
              <a:rPr lang="en-US" sz="1400" dirty="0"/>
              <a:t>Recommendations:</a:t>
            </a:r>
          </a:p>
          <a:p>
            <a:r>
              <a:rPr lang="en-US" sz="1400" b="1" dirty="0"/>
              <a:t>Prioritize high-value customers</a:t>
            </a:r>
            <a:r>
              <a:rPr lang="en-US" sz="1400" dirty="0"/>
              <a:t> and launch programs to convert low-value renters in volume-leading countries into more profitable customers.</a:t>
            </a:r>
          </a:p>
        </p:txBody>
      </p:sp>
      <p:pic>
        <p:nvPicPr>
          <p:cNvPr id="13" name="Picture 12">
            <a:extLst>
              <a:ext uri="{FF2B5EF4-FFF2-40B4-BE49-F238E27FC236}">
                <a16:creationId xmlns:a16="http://schemas.microsoft.com/office/drawing/2014/main" id="{0A89FDD9-AFE1-4500-073E-172F46AC3C50}"/>
              </a:ext>
            </a:extLst>
          </p:cNvPr>
          <p:cNvPicPr>
            <a:picLocks noChangeAspect="1"/>
          </p:cNvPicPr>
          <p:nvPr/>
        </p:nvPicPr>
        <p:blipFill>
          <a:blip r:embed="rId3"/>
          <a:stretch>
            <a:fillRect/>
          </a:stretch>
        </p:blipFill>
        <p:spPr>
          <a:xfrm>
            <a:off x="10956014" y="5891837"/>
            <a:ext cx="806218" cy="725317"/>
          </a:xfrm>
          <a:prstGeom prst="rect">
            <a:avLst/>
          </a:prstGeom>
        </p:spPr>
      </p:pic>
    </p:spTree>
    <p:extLst>
      <p:ext uri="{BB962C8B-B14F-4D97-AF65-F5344CB8AC3E}">
        <p14:creationId xmlns:p14="http://schemas.microsoft.com/office/powerpoint/2010/main" val="330743971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FF54D-425D-B38C-3481-AFBC05981492}"/>
              </a:ext>
            </a:extLst>
          </p:cNvPr>
          <p:cNvSpPr>
            <a:spLocks noGrp="1"/>
          </p:cNvSpPr>
          <p:nvPr>
            <p:ph type="ctrTitle"/>
          </p:nvPr>
        </p:nvSpPr>
        <p:spPr/>
        <p:txBody>
          <a:bodyPr/>
          <a:lstStyle/>
          <a:p>
            <a:r>
              <a:rPr lang="en-US" dirty="0"/>
              <a:t>Questions?</a:t>
            </a:r>
          </a:p>
        </p:txBody>
      </p:sp>
      <p:sp>
        <p:nvSpPr>
          <p:cNvPr id="3" name="Subtitle 2">
            <a:extLst>
              <a:ext uri="{FF2B5EF4-FFF2-40B4-BE49-F238E27FC236}">
                <a16:creationId xmlns:a16="http://schemas.microsoft.com/office/drawing/2014/main" id="{F9C3F743-BE29-A4AE-A69A-3A51DD6E4041}"/>
              </a:ext>
            </a:extLst>
          </p:cNvPr>
          <p:cNvSpPr>
            <a:spLocks noGrp="1"/>
          </p:cNvSpPr>
          <p:nvPr>
            <p:ph type="subTitle" idx="1"/>
          </p:nvPr>
        </p:nvSpPr>
        <p:spPr/>
        <p:txBody>
          <a:bodyPr/>
          <a:lstStyle/>
          <a:p>
            <a:r>
              <a:rPr lang="en-US" dirty="0"/>
              <a:t>You can also follow up through ben@rockbuster.com</a:t>
            </a:r>
          </a:p>
        </p:txBody>
      </p:sp>
    </p:spTree>
    <p:extLst>
      <p:ext uri="{BB962C8B-B14F-4D97-AF65-F5344CB8AC3E}">
        <p14:creationId xmlns:p14="http://schemas.microsoft.com/office/powerpoint/2010/main" val="998793036"/>
      </p:ext>
    </p:extLst>
  </p:cSld>
  <p:clrMapOvr>
    <a:masterClrMapping/>
  </p:clrMapOvr>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1269</Words>
  <Application>Microsoft Office PowerPoint</Application>
  <PresentationFormat>Widescreen</PresentationFormat>
  <Paragraphs>97</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Neue Haas Grotesk Text Pro</vt:lpstr>
      <vt:lpstr>DuneVTI</vt:lpstr>
      <vt:lpstr>Rockbuster: Establishing Our Baseline for Global Profitability and Growth</vt:lpstr>
      <vt:lpstr>Presentation Agenda</vt:lpstr>
      <vt:lpstr>The Rockbuster Blueprint:  Validating Efficiency and Pinpointing Global Opportunities</vt:lpstr>
      <vt:lpstr>Customer Base Overview</vt:lpstr>
      <vt:lpstr>PowerPoint Presentation</vt:lpstr>
      <vt:lpstr>Film Inventory and Operations</vt:lpstr>
      <vt:lpstr>PowerPoint Presentation</vt:lpstr>
      <vt:lpstr>Rockbuster's Global Footprint</vt:lpstr>
      <vt:lpstr>Global Market Penetration</vt:lpstr>
      <vt:lpstr>Low Concentration and Scattered Customer Penetration</vt:lpstr>
      <vt:lpstr>High-Value Customer Pockets</vt:lpstr>
      <vt:lpstr>Conclusion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Diemler</dc:creator>
  <cp:lastModifiedBy>Benjamin Diemler</cp:lastModifiedBy>
  <cp:revision>1</cp:revision>
  <dcterms:created xsi:type="dcterms:W3CDTF">2025-10-21T23:32:03Z</dcterms:created>
  <dcterms:modified xsi:type="dcterms:W3CDTF">2025-10-22T23:45:25Z</dcterms:modified>
</cp:coreProperties>
</file>